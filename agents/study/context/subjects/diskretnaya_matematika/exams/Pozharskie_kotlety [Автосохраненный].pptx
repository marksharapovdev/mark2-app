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9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5400675" cy="7199313"/>
  <p:notesSz cx="8686800" cy="121618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1" d="100"/>
          <a:sy n="121" d="100"/>
        </p:scale>
        <p:origin x="332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22586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552445" rtl="0" eaLnBrk="1" latinLnBrk="0" hangingPunct="1">
      <a:defRPr sz="725" kern="1200">
        <a:solidFill>
          <a:schemeClr val="tx1"/>
        </a:solidFill>
        <a:latin typeface="+mn-lt"/>
        <a:ea typeface="+mn-ea"/>
        <a:cs typeface="+mn-cs"/>
      </a:defRPr>
    </a:lvl1pPr>
    <a:lvl2pPr marL="276222" algn="l" defTabSz="552445" rtl="0" eaLnBrk="1" latinLnBrk="0" hangingPunct="1">
      <a:defRPr sz="725" kern="1200">
        <a:solidFill>
          <a:schemeClr val="tx1"/>
        </a:solidFill>
        <a:latin typeface="+mn-lt"/>
        <a:ea typeface="+mn-ea"/>
        <a:cs typeface="+mn-cs"/>
      </a:defRPr>
    </a:lvl2pPr>
    <a:lvl3pPr marL="552445" algn="l" defTabSz="552445" rtl="0" eaLnBrk="1" latinLnBrk="0" hangingPunct="1">
      <a:defRPr sz="725" kern="1200">
        <a:solidFill>
          <a:schemeClr val="tx1"/>
        </a:solidFill>
        <a:latin typeface="+mn-lt"/>
        <a:ea typeface="+mn-ea"/>
        <a:cs typeface="+mn-cs"/>
      </a:defRPr>
    </a:lvl3pPr>
    <a:lvl4pPr marL="828667" algn="l" defTabSz="552445" rtl="0" eaLnBrk="1" latinLnBrk="0" hangingPunct="1">
      <a:defRPr sz="725" kern="1200">
        <a:solidFill>
          <a:schemeClr val="tx1"/>
        </a:solidFill>
        <a:latin typeface="+mn-lt"/>
        <a:ea typeface="+mn-ea"/>
        <a:cs typeface="+mn-cs"/>
      </a:defRPr>
    </a:lvl4pPr>
    <a:lvl5pPr marL="1104890" algn="l" defTabSz="552445" rtl="0" eaLnBrk="1" latinLnBrk="0" hangingPunct="1">
      <a:defRPr sz="725" kern="1200">
        <a:solidFill>
          <a:schemeClr val="tx1"/>
        </a:solidFill>
        <a:latin typeface="+mn-lt"/>
        <a:ea typeface="+mn-ea"/>
        <a:cs typeface="+mn-cs"/>
      </a:defRPr>
    </a:lvl5pPr>
    <a:lvl6pPr marL="1381112" algn="l" defTabSz="552445" rtl="0" eaLnBrk="1" latinLnBrk="0" hangingPunct="1">
      <a:defRPr sz="725" kern="1200">
        <a:solidFill>
          <a:schemeClr val="tx1"/>
        </a:solidFill>
        <a:latin typeface="+mn-lt"/>
        <a:ea typeface="+mn-ea"/>
        <a:cs typeface="+mn-cs"/>
      </a:defRPr>
    </a:lvl6pPr>
    <a:lvl7pPr marL="1657334" algn="l" defTabSz="552445" rtl="0" eaLnBrk="1" latinLnBrk="0" hangingPunct="1">
      <a:defRPr sz="725" kern="1200">
        <a:solidFill>
          <a:schemeClr val="tx1"/>
        </a:solidFill>
        <a:latin typeface="+mn-lt"/>
        <a:ea typeface="+mn-ea"/>
        <a:cs typeface="+mn-cs"/>
      </a:defRPr>
    </a:lvl7pPr>
    <a:lvl8pPr marL="1933557" algn="l" defTabSz="552445" rtl="0" eaLnBrk="1" latinLnBrk="0" hangingPunct="1">
      <a:defRPr sz="725" kern="1200">
        <a:solidFill>
          <a:schemeClr val="tx1"/>
        </a:solidFill>
        <a:latin typeface="+mn-lt"/>
        <a:ea typeface="+mn-ea"/>
        <a:cs typeface="+mn-cs"/>
      </a:defRPr>
    </a:lvl8pPr>
    <a:lvl9pPr marL="2209780" algn="l" defTabSz="552445" rtl="0" eaLnBrk="1" latinLnBrk="0" hangingPunct="1">
      <a:defRPr sz="725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F080CE-C15E-CF8A-F4C3-0D2E5CCD98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53A13B-0D8B-8C20-E23B-75DC0DA559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A23C69-02CA-A36A-C208-CD089714AC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A409D8-C5C1-1B31-850B-090D098B02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2799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05051" y="1178222"/>
            <a:ext cx="4590574" cy="2506427"/>
          </a:xfrm>
        </p:spPr>
        <p:txBody>
          <a:bodyPr anchor="b"/>
          <a:lstStyle>
            <a:lvl1pPr algn="ctr">
              <a:defRPr sz="3544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75085" y="3781306"/>
            <a:ext cx="4050506" cy="1738167"/>
          </a:xfrm>
        </p:spPr>
        <p:txBody>
          <a:bodyPr/>
          <a:lstStyle>
            <a:lvl1pPr marL="0" indent="0" algn="ctr">
              <a:buNone/>
              <a:defRPr sz="1417"/>
            </a:lvl1pPr>
            <a:lvl2pPr marL="270022" indent="0" algn="ctr">
              <a:buNone/>
              <a:defRPr sz="1181"/>
            </a:lvl2pPr>
            <a:lvl3pPr marL="540045" indent="0" algn="ctr">
              <a:buNone/>
              <a:defRPr sz="1063"/>
            </a:lvl3pPr>
            <a:lvl4pPr marL="810067" indent="0" algn="ctr">
              <a:buNone/>
              <a:defRPr sz="945"/>
            </a:lvl4pPr>
            <a:lvl5pPr marL="1080089" indent="0" algn="ctr">
              <a:buNone/>
              <a:defRPr sz="945"/>
            </a:lvl5pPr>
            <a:lvl6pPr marL="1350112" indent="0" algn="ctr">
              <a:buNone/>
              <a:defRPr sz="945"/>
            </a:lvl6pPr>
            <a:lvl7pPr marL="1620134" indent="0" algn="ctr">
              <a:buNone/>
              <a:defRPr sz="945"/>
            </a:lvl7pPr>
            <a:lvl8pPr marL="1890156" indent="0" algn="ctr">
              <a:buNone/>
              <a:defRPr sz="945"/>
            </a:lvl8pPr>
            <a:lvl9pPr marL="2160179" indent="0" algn="ctr">
              <a:buNone/>
              <a:defRPr sz="945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3/24/26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063205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3/24/26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0838341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8484" y="1794831"/>
            <a:ext cx="4658082" cy="2994714"/>
          </a:xfrm>
        </p:spPr>
        <p:txBody>
          <a:bodyPr anchor="b"/>
          <a:lstStyle>
            <a:lvl1pPr>
              <a:defRPr sz="3544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8484" y="4817876"/>
            <a:ext cx="4658082" cy="1574849"/>
          </a:xfrm>
        </p:spPr>
        <p:txBody>
          <a:bodyPr/>
          <a:lstStyle>
            <a:lvl1pPr marL="0" indent="0">
              <a:buNone/>
              <a:defRPr sz="1417">
                <a:solidFill>
                  <a:schemeClr val="tx1"/>
                </a:solidFill>
              </a:defRPr>
            </a:lvl1pPr>
            <a:lvl2pPr marL="270022" indent="0">
              <a:buNone/>
              <a:defRPr sz="1181">
                <a:solidFill>
                  <a:schemeClr val="tx1">
                    <a:tint val="75000"/>
                  </a:schemeClr>
                </a:solidFill>
              </a:defRPr>
            </a:lvl2pPr>
            <a:lvl3pPr marL="540045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3pPr>
            <a:lvl4pPr marL="810067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4pPr>
            <a:lvl5pPr marL="1080089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5pPr>
            <a:lvl6pPr marL="1350112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6pPr>
            <a:lvl7pPr marL="1620134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7pPr>
            <a:lvl8pPr marL="1890156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8pPr>
            <a:lvl9pPr marL="2160179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3/24/26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082670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71296" y="1916484"/>
            <a:ext cx="2295287" cy="456789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734092" y="1916484"/>
            <a:ext cx="2295287" cy="456789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3/24/26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3641547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2000" y="383299"/>
            <a:ext cx="4658082" cy="1391534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2001" y="1764832"/>
            <a:ext cx="2284738" cy="864917"/>
          </a:xfrm>
        </p:spPr>
        <p:txBody>
          <a:bodyPr anchor="b"/>
          <a:lstStyle>
            <a:lvl1pPr marL="0" indent="0">
              <a:buNone/>
              <a:defRPr sz="1417" b="1"/>
            </a:lvl1pPr>
            <a:lvl2pPr marL="270022" indent="0">
              <a:buNone/>
              <a:defRPr sz="1181" b="1"/>
            </a:lvl2pPr>
            <a:lvl3pPr marL="540045" indent="0">
              <a:buNone/>
              <a:defRPr sz="1063" b="1"/>
            </a:lvl3pPr>
            <a:lvl4pPr marL="810067" indent="0">
              <a:buNone/>
              <a:defRPr sz="945" b="1"/>
            </a:lvl4pPr>
            <a:lvl5pPr marL="1080089" indent="0">
              <a:buNone/>
              <a:defRPr sz="945" b="1"/>
            </a:lvl5pPr>
            <a:lvl6pPr marL="1350112" indent="0">
              <a:buNone/>
              <a:defRPr sz="945" b="1"/>
            </a:lvl6pPr>
            <a:lvl7pPr marL="1620134" indent="0">
              <a:buNone/>
              <a:defRPr sz="945" b="1"/>
            </a:lvl7pPr>
            <a:lvl8pPr marL="1890156" indent="0">
              <a:buNone/>
              <a:defRPr sz="945" b="1"/>
            </a:lvl8pPr>
            <a:lvl9pPr marL="2160179" indent="0">
              <a:buNone/>
              <a:defRPr sz="945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72001" y="2629749"/>
            <a:ext cx="2284738" cy="386796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734092" y="1764832"/>
            <a:ext cx="2295990" cy="864917"/>
          </a:xfrm>
        </p:spPr>
        <p:txBody>
          <a:bodyPr anchor="b"/>
          <a:lstStyle>
            <a:lvl1pPr marL="0" indent="0">
              <a:buNone/>
              <a:defRPr sz="1417" b="1"/>
            </a:lvl1pPr>
            <a:lvl2pPr marL="270022" indent="0">
              <a:buNone/>
              <a:defRPr sz="1181" b="1"/>
            </a:lvl2pPr>
            <a:lvl3pPr marL="540045" indent="0">
              <a:buNone/>
              <a:defRPr sz="1063" b="1"/>
            </a:lvl3pPr>
            <a:lvl4pPr marL="810067" indent="0">
              <a:buNone/>
              <a:defRPr sz="945" b="1"/>
            </a:lvl4pPr>
            <a:lvl5pPr marL="1080089" indent="0">
              <a:buNone/>
              <a:defRPr sz="945" b="1"/>
            </a:lvl5pPr>
            <a:lvl6pPr marL="1350112" indent="0">
              <a:buNone/>
              <a:defRPr sz="945" b="1"/>
            </a:lvl6pPr>
            <a:lvl7pPr marL="1620134" indent="0">
              <a:buNone/>
              <a:defRPr sz="945" b="1"/>
            </a:lvl7pPr>
            <a:lvl8pPr marL="1890156" indent="0">
              <a:buNone/>
              <a:defRPr sz="945" b="1"/>
            </a:lvl8pPr>
            <a:lvl9pPr marL="2160179" indent="0">
              <a:buNone/>
              <a:defRPr sz="945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734092" y="2629749"/>
            <a:ext cx="2295990" cy="386796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3/24/26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1754043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3/24/26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7583233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3/24/26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642001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2000" y="479954"/>
            <a:ext cx="1741858" cy="1679840"/>
          </a:xfrm>
        </p:spPr>
        <p:txBody>
          <a:bodyPr anchor="b"/>
          <a:lstStyle>
            <a:lvl1pPr>
              <a:defRPr sz="189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95990" y="1036570"/>
            <a:ext cx="2734092" cy="5116178"/>
          </a:xfrm>
        </p:spPr>
        <p:txBody>
          <a:bodyPr/>
          <a:lstStyle>
            <a:lvl1pPr>
              <a:defRPr sz="1890"/>
            </a:lvl1pPr>
            <a:lvl2pPr>
              <a:defRPr sz="1654"/>
            </a:lvl2pPr>
            <a:lvl3pPr>
              <a:defRPr sz="1417"/>
            </a:lvl3pPr>
            <a:lvl4pPr>
              <a:defRPr sz="1181"/>
            </a:lvl4pPr>
            <a:lvl5pPr>
              <a:defRPr sz="1181"/>
            </a:lvl5pPr>
            <a:lvl6pPr>
              <a:defRPr sz="1181"/>
            </a:lvl6pPr>
            <a:lvl7pPr>
              <a:defRPr sz="1181"/>
            </a:lvl7pPr>
            <a:lvl8pPr>
              <a:defRPr sz="1181"/>
            </a:lvl8pPr>
            <a:lvl9pPr>
              <a:defRPr sz="1181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2000" y="2159794"/>
            <a:ext cx="1741858" cy="4001285"/>
          </a:xfrm>
        </p:spPr>
        <p:txBody>
          <a:bodyPr/>
          <a:lstStyle>
            <a:lvl1pPr marL="0" indent="0">
              <a:buNone/>
              <a:defRPr sz="945"/>
            </a:lvl1pPr>
            <a:lvl2pPr marL="270022" indent="0">
              <a:buNone/>
              <a:defRPr sz="827"/>
            </a:lvl2pPr>
            <a:lvl3pPr marL="540045" indent="0">
              <a:buNone/>
              <a:defRPr sz="709"/>
            </a:lvl3pPr>
            <a:lvl4pPr marL="810067" indent="0">
              <a:buNone/>
              <a:defRPr sz="591"/>
            </a:lvl4pPr>
            <a:lvl5pPr marL="1080089" indent="0">
              <a:buNone/>
              <a:defRPr sz="591"/>
            </a:lvl5pPr>
            <a:lvl6pPr marL="1350112" indent="0">
              <a:buNone/>
              <a:defRPr sz="591"/>
            </a:lvl6pPr>
            <a:lvl7pPr marL="1620134" indent="0">
              <a:buNone/>
              <a:defRPr sz="591"/>
            </a:lvl7pPr>
            <a:lvl8pPr marL="1890156" indent="0">
              <a:buNone/>
              <a:defRPr sz="591"/>
            </a:lvl8pPr>
            <a:lvl9pPr marL="2160179" indent="0">
              <a:buNone/>
              <a:defRPr sz="59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3/24/26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4629332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2000" y="479954"/>
            <a:ext cx="1741858" cy="1679840"/>
          </a:xfrm>
        </p:spPr>
        <p:txBody>
          <a:bodyPr anchor="b"/>
          <a:lstStyle>
            <a:lvl1pPr>
              <a:defRPr sz="189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95990" y="1036570"/>
            <a:ext cx="2734092" cy="5116178"/>
          </a:xfrm>
        </p:spPr>
        <p:txBody>
          <a:bodyPr anchor="t"/>
          <a:lstStyle>
            <a:lvl1pPr marL="0" indent="0">
              <a:buNone/>
              <a:defRPr sz="1890"/>
            </a:lvl1pPr>
            <a:lvl2pPr marL="270022" indent="0">
              <a:buNone/>
              <a:defRPr sz="1654"/>
            </a:lvl2pPr>
            <a:lvl3pPr marL="540045" indent="0">
              <a:buNone/>
              <a:defRPr sz="1417"/>
            </a:lvl3pPr>
            <a:lvl4pPr marL="810067" indent="0">
              <a:buNone/>
              <a:defRPr sz="1181"/>
            </a:lvl4pPr>
            <a:lvl5pPr marL="1080089" indent="0">
              <a:buNone/>
              <a:defRPr sz="1181"/>
            </a:lvl5pPr>
            <a:lvl6pPr marL="1350112" indent="0">
              <a:buNone/>
              <a:defRPr sz="1181"/>
            </a:lvl6pPr>
            <a:lvl7pPr marL="1620134" indent="0">
              <a:buNone/>
              <a:defRPr sz="1181"/>
            </a:lvl7pPr>
            <a:lvl8pPr marL="1890156" indent="0">
              <a:buNone/>
              <a:defRPr sz="1181"/>
            </a:lvl8pPr>
            <a:lvl9pPr marL="2160179" indent="0">
              <a:buNone/>
              <a:defRPr sz="1181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2000" y="2159794"/>
            <a:ext cx="1741858" cy="4001285"/>
          </a:xfrm>
        </p:spPr>
        <p:txBody>
          <a:bodyPr/>
          <a:lstStyle>
            <a:lvl1pPr marL="0" indent="0">
              <a:buNone/>
              <a:defRPr sz="945"/>
            </a:lvl1pPr>
            <a:lvl2pPr marL="270022" indent="0">
              <a:buNone/>
              <a:defRPr sz="827"/>
            </a:lvl2pPr>
            <a:lvl3pPr marL="540045" indent="0">
              <a:buNone/>
              <a:defRPr sz="709"/>
            </a:lvl3pPr>
            <a:lvl4pPr marL="810067" indent="0">
              <a:buNone/>
              <a:defRPr sz="591"/>
            </a:lvl4pPr>
            <a:lvl5pPr marL="1080089" indent="0">
              <a:buNone/>
              <a:defRPr sz="591"/>
            </a:lvl5pPr>
            <a:lvl6pPr marL="1350112" indent="0">
              <a:buNone/>
              <a:defRPr sz="591"/>
            </a:lvl6pPr>
            <a:lvl7pPr marL="1620134" indent="0">
              <a:buNone/>
              <a:defRPr sz="591"/>
            </a:lvl7pPr>
            <a:lvl8pPr marL="1890156" indent="0">
              <a:buNone/>
              <a:defRPr sz="591"/>
            </a:lvl8pPr>
            <a:lvl9pPr marL="2160179" indent="0">
              <a:buNone/>
              <a:defRPr sz="59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3/24/26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160225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3/24/26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5532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64858" y="383297"/>
            <a:ext cx="1164521" cy="610108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71297" y="383297"/>
            <a:ext cx="3426053" cy="610108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3/24/26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022458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9301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71297" y="383299"/>
            <a:ext cx="4658082" cy="13915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1297" y="1916484"/>
            <a:ext cx="4658082" cy="45678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71296" y="6672698"/>
            <a:ext cx="1215152" cy="383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3/24/26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788974" y="6672698"/>
            <a:ext cx="1822728" cy="383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814227" y="6672698"/>
            <a:ext cx="1215152" cy="383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3198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</p:sldLayoutIdLst>
  <p:hf sldNum="0" hdr="0" ftr="0" dt="0"/>
  <p:txStyles>
    <p:titleStyle>
      <a:lvl1pPr algn="l" defTabSz="540045" rtl="0" eaLnBrk="1" latinLnBrk="0" hangingPunct="1">
        <a:lnSpc>
          <a:spcPct val="90000"/>
        </a:lnSpc>
        <a:spcBef>
          <a:spcPct val="0"/>
        </a:spcBef>
        <a:buNone/>
        <a:defRPr sz="25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5011" indent="-135011" algn="l" defTabSz="540045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1654" kern="1200">
          <a:solidFill>
            <a:schemeClr val="tx1"/>
          </a:solidFill>
          <a:latin typeface="+mn-lt"/>
          <a:ea typeface="+mn-ea"/>
          <a:cs typeface="+mn-cs"/>
        </a:defRPr>
      </a:lvl1pPr>
      <a:lvl2pPr marL="405033" indent="-135011" algn="l" defTabSz="540045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2pPr>
      <a:lvl3pPr marL="675056" indent="-135011" algn="l" defTabSz="540045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181" kern="1200">
          <a:solidFill>
            <a:schemeClr val="tx1"/>
          </a:solidFill>
          <a:latin typeface="+mn-lt"/>
          <a:ea typeface="+mn-ea"/>
          <a:cs typeface="+mn-cs"/>
        </a:defRPr>
      </a:lvl3pPr>
      <a:lvl4pPr marL="945078" indent="-135011" algn="l" defTabSz="540045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4pPr>
      <a:lvl5pPr marL="1215100" indent="-135011" algn="l" defTabSz="540045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5pPr>
      <a:lvl6pPr marL="1485123" indent="-135011" algn="l" defTabSz="540045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6pPr>
      <a:lvl7pPr marL="1755145" indent="-135011" algn="l" defTabSz="540045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7pPr>
      <a:lvl8pPr marL="2025167" indent="-135011" algn="l" defTabSz="540045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8pPr>
      <a:lvl9pPr marL="2295190" indent="-135011" algn="l" defTabSz="540045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40045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1pPr>
      <a:lvl2pPr marL="270022" algn="l" defTabSz="540045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2pPr>
      <a:lvl3pPr marL="540045" algn="l" defTabSz="540045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3pPr>
      <a:lvl4pPr marL="810067" algn="l" defTabSz="540045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4pPr>
      <a:lvl5pPr marL="1080089" algn="l" defTabSz="540045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5pPr>
      <a:lvl6pPr marL="1350112" algn="l" defTabSz="540045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6pPr>
      <a:lvl7pPr marL="1620134" algn="l" defTabSz="540045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7pPr>
      <a:lvl8pPr marL="1890156" algn="l" defTabSz="540045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8pPr>
      <a:lvl9pPr marL="2160179" algn="l" defTabSz="540045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998900" y="160825"/>
            <a:ext cx="3490920" cy="1569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84" b="1" dirty="0"/>
              <a:t>Дерево бизнес-процесса «Приготовить пожарские котлеты»</a:t>
            </a:r>
            <a:endParaRPr lang="en-US" sz="384" dirty="0"/>
          </a:p>
        </p:txBody>
      </p:sp>
      <p:sp>
        <p:nvSpPr>
          <p:cNvPr id="4" name="Shape 2"/>
          <p:cNvSpPr/>
          <p:nvPr/>
        </p:nvSpPr>
        <p:spPr>
          <a:xfrm>
            <a:off x="2419623" y="363786"/>
            <a:ext cx="649473" cy="175899"/>
          </a:xfrm>
          <a:prstGeom prst="roundRect">
            <a:avLst>
              <a:gd name="adj" fmla="val 15385"/>
            </a:avLst>
          </a:prstGeom>
          <a:solidFill>
            <a:srgbClr val="7B1C00"/>
          </a:solidFill>
          <a:ln w="25400">
            <a:solidFill>
              <a:srgbClr val="8B3A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419623" y="363786"/>
            <a:ext cx="649473" cy="175899"/>
          </a:xfrm>
          <a:prstGeom prst="rect">
            <a:avLst/>
          </a:prstGeom>
          <a:noFill/>
          <a:ln/>
        </p:spPr>
        <p:txBody>
          <a:bodyPr wrap="square" lIns="15034" tIns="15034" rIns="15034" bIns="15034" rtlCol="0" anchor="ctr"/>
          <a:lstStyle/>
          <a:p>
            <a:pPr algn="ctr"/>
            <a:r>
              <a:rPr lang="en-US" sz="325" b="1" dirty="0">
                <a:solidFill>
                  <a:srgbClr val="FFFFFF"/>
                </a:solidFill>
              </a:rPr>
              <a:t>Приготовить</a:t>
            </a:r>
            <a:endParaRPr lang="en-US" sz="325" dirty="0"/>
          </a:p>
          <a:p>
            <a:pPr algn="ctr"/>
            <a:r>
              <a:rPr lang="en-US" sz="325" b="1" dirty="0">
                <a:solidFill>
                  <a:srgbClr val="FFFFFF"/>
                </a:solidFill>
              </a:rPr>
              <a:t>пожарские котлеты</a:t>
            </a:r>
            <a:endParaRPr lang="en-US" sz="325" dirty="0"/>
          </a:p>
        </p:txBody>
      </p:sp>
      <p:sp>
        <p:nvSpPr>
          <p:cNvPr id="6" name="Shape 4"/>
          <p:cNvSpPr/>
          <p:nvPr/>
        </p:nvSpPr>
        <p:spPr>
          <a:xfrm>
            <a:off x="2744359" y="539685"/>
            <a:ext cx="0" cy="86596"/>
          </a:xfrm>
          <a:prstGeom prst="line">
            <a:avLst/>
          </a:prstGeom>
          <a:noFill/>
          <a:ln w="16510">
            <a:solidFill>
              <a:srgbClr val="8B3A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35264" y="626281"/>
            <a:ext cx="2699374" cy="0"/>
          </a:xfrm>
          <a:prstGeom prst="line">
            <a:avLst/>
          </a:prstGeom>
          <a:noFill/>
          <a:ln w="16510">
            <a:solidFill>
              <a:srgbClr val="8B3A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9936" y="626281"/>
            <a:ext cx="730657" cy="175899"/>
          </a:xfrm>
          <a:prstGeom prst="roundRect">
            <a:avLst>
              <a:gd name="adj" fmla="val 15385"/>
            </a:avLst>
          </a:prstGeom>
          <a:solidFill>
            <a:srgbClr val="B83C10"/>
          </a:solidFill>
          <a:ln w="17780">
            <a:solidFill>
              <a:srgbClr val="8B3A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9936" y="626281"/>
            <a:ext cx="730657" cy="175899"/>
          </a:xfrm>
          <a:prstGeom prst="rect">
            <a:avLst/>
          </a:prstGeom>
          <a:noFill/>
          <a:ln/>
        </p:spPr>
        <p:txBody>
          <a:bodyPr wrap="square" lIns="15034" tIns="15034" rIns="15034" bIns="15034" rtlCol="0" anchor="ctr"/>
          <a:lstStyle/>
          <a:p>
            <a:pPr algn="ctr"/>
            <a:r>
              <a:rPr lang="en-US" sz="251" dirty="0">
                <a:solidFill>
                  <a:srgbClr val="FFFFFF"/>
                </a:solidFill>
              </a:rPr>
              <a:t>1. Подготовка</a:t>
            </a:r>
            <a:endParaRPr lang="en-US" sz="251" dirty="0"/>
          </a:p>
          <a:p>
            <a:pPr algn="ctr"/>
            <a:r>
              <a:rPr lang="en-US" sz="251" dirty="0">
                <a:solidFill>
                  <a:srgbClr val="FFFFFF"/>
                </a:solidFill>
              </a:rPr>
              <a:t>продуктов</a:t>
            </a:r>
            <a:endParaRPr lang="en-US" sz="251" dirty="0"/>
          </a:p>
        </p:txBody>
      </p:sp>
      <p:sp>
        <p:nvSpPr>
          <p:cNvPr id="10" name="Shape 8"/>
          <p:cNvSpPr/>
          <p:nvPr/>
        </p:nvSpPr>
        <p:spPr>
          <a:xfrm>
            <a:off x="1435264" y="626281"/>
            <a:ext cx="0" cy="2706"/>
          </a:xfrm>
          <a:prstGeom prst="line">
            <a:avLst/>
          </a:prstGeom>
          <a:noFill/>
          <a:ln w="16510">
            <a:solidFill>
              <a:srgbClr val="8B3A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69727" y="626281"/>
            <a:ext cx="730657" cy="175899"/>
          </a:xfrm>
          <a:prstGeom prst="roundRect">
            <a:avLst>
              <a:gd name="adj" fmla="val 15385"/>
            </a:avLst>
          </a:prstGeom>
          <a:solidFill>
            <a:srgbClr val="B83C10"/>
          </a:solidFill>
          <a:ln w="17780">
            <a:solidFill>
              <a:srgbClr val="8B3A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69727" y="626281"/>
            <a:ext cx="730657" cy="175899"/>
          </a:xfrm>
          <a:prstGeom prst="rect">
            <a:avLst/>
          </a:prstGeom>
          <a:noFill/>
          <a:ln/>
        </p:spPr>
        <p:txBody>
          <a:bodyPr wrap="square" lIns="15034" tIns="15034" rIns="15034" bIns="15034" rtlCol="0" anchor="ctr"/>
          <a:lstStyle/>
          <a:p>
            <a:pPr algn="ctr"/>
            <a:r>
              <a:rPr lang="en-US" sz="251" dirty="0">
                <a:solidFill>
                  <a:srgbClr val="FFFFFF"/>
                </a:solidFill>
              </a:rPr>
              <a:t>2. Приготовление</a:t>
            </a:r>
            <a:endParaRPr lang="en-US" sz="251" dirty="0"/>
          </a:p>
          <a:p>
            <a:pPr algn="ctr"/>
            <a:r>
              <a:rPr lang="en-US" sz="251" dirty="0">
                <a:solidFill>
                  <a:srgbClr val="FFFFFF"/>
                </a:solidFill>
              </a:rPr>
              <a:t>фарша</a:t>
            </a:r>
            <a:endParaRPr lang="en-US" sz="251" dirty="0"/>
          </a:p>
        </p:txBody>
      </p:sp>
      <p:sp>
        <p:nvSpPr>
          <p:cNvPr id="13" name="Shape 11"/>
          <p:cNvSpPr/>
          <p:nvPr/>
        </p:nvSpPr>
        <p:spPr>
          <a:xfrm>
            <a:off x="2335055" y="626281"/>
            <a:ext cx="0" cy="2706"/>
          </a:xfrm>
          <a:prstGeom prst="line">
            <a:avLst/>
          </a:prstGeom>
          <a:noFill/>
          <a:ln w="16510">
            <a:solidFill>
              <a:srgbClr val="8B3A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69519" y="626281"/>
            <a:ext cx="730657" cy="175899"/>
          </a:xfrm>
          <a:prstGeom prst="roundRect">
            <a:avLst>
              <a:gd name="adj" fmla="val 15385"/>
            </a:avLst>
          </a:prstGeom>
          <a:solidFill>
            <a:srgbClr val="B83C10"/>
          </a:solidFill>
          <a:ln w="17780">
            <a:solidFill>
              <a:srgbClr val="8B3A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69519" y="626281"/>
            <a:ext cx="730657" cy="175899"/>
          </a:xfrm>
          <a:prstGeom prst="rect">
            <a:avLst/>
          </a:prstGeom>
          <a:noFill/>
          <a:ln/>
        </p:spPr>
        <p:txBody>
          <a:bodyPr wrap="square" lIns="15034" tIns="15034" rIns="15034" bIns="15034" rtlCol="0" anchor="ctr"/>
          <a:lstStyle/>
          <a:p>
            <a:pPr algn="ctr"/>
            <a:r>
              <a:rPr lang="en-US" sz="251" dirty="0">
                <a:solidFill>
                  <a:srgbClr val="FFFFFF"/>
                </a:solidFill>
              </a:rPr>
              <a:t>3. Панировка</a:t>
            </a:r>
            <a:endParaRPr lang="en-US" sz="251" dirty="0"/>
          </a:p>
          <a:p>
            <a:pPr algn="ctr"/>
            <a:r>
              <a:rPr lang="en-US" sz="251" dirty="0">
                <a:solidFill>
                  <a:srgbClr val="FFFFFF"/>
                </a:solidFill>
              </a:rPr>
              <a:t>и жарка</a:t>
            </a:r>
            <a:endParaRPr lang="en-US" sz="251" dirty="0"/>
          </a:p>
        </p:txBody>
      </p:sp>
      <p:sp>
        <p:nvSpPr>
          <p:cNvPr id="16" name="Shape 14"/>
          <p:cNvSpPr/>
          <p:nvPr/>
        </p:nvSpPr>
        <p:spPr>
          <a:xfrm>
            <a:off x="3234847" y="626281"/>
            <a:ext cx="0" cy="2706"/>
          </a:xfrm>
          <a:prstGeom prst="line">
            <a:avLst/>
          </a:prstGeom>
          <a:noFill/>
          <a:ln w="16510">
            <a:solidFill>
              <a:srgbClr val="8B3A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97216" y="631693"/>
            <a:ext cx="202960" cy="703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192" dirty="0"/>
          </a:p>
        </p:txBody>
      </p:sp>
      <p:sp>
        <p:nvSpPr>
          <p:cNvPr id="19" name="Shape 17"/>
          <p:cNvSpPr/>
          <p:nvPr/>
        </p:nvSpPr>
        <p:spPr>
          <a:xfrm>
            <a:off x="3769310" y="626281"/>
            <a:ext cx="730657" cy="175899"/>
          </a:xfrm>
          <a:prstGeom prst="roundRect">
            <a:avLst>
              <a:gd name="adj" fmla="val 15385"/>
            </a:avLst>
          </a:prstGeom>
          <a:solidFill>
            <a:srgbClr val="B83C10"/>
          </a:solidFill>
          <a:ln w="17780">
            <a:solidFill>
              <a:srgbClr val="8B3A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69310" y="626281"/>
            <a:ext cx="730657" cy="175899"/>
          </a:xfrm>
          <a:prstGeom prst="rect">
            <a:avLst/>
          </a:prstGeom>
          <a:noFill/>
          <a:ln/>
        </p:spPr>
        <p:txBody>
          <a:bodyPr wrap="square" lIns="15034" tIns="15034" rIns="15034" bIns="15034" rtlCol="0" anchor="ctr"/>
          <a:lstStyle/>
          <a:p>
            <a:pPr algn="ctr"/>
            <a:r>
              <a:rPr lang="en-US" sz="251" dirty="0">
                <a:solidFill>
                  <a:srgbClr val="FFFFFF"/>
                </a:solidFill>
              </a:rPr>
              <a:t>4. Подача</a:t>
            </a:r>
            <a:endParaRPr lang="en-US" sz="251" dirty="0"/>
          </a:p>
          <a:p>
            <a:pPr algn="ctr"/>
            <a:r>
              <a:rPr lang="en-US" sz="251" dirty="0">
                <a:solidFill>
                  <a:srgbClr val="FFFFFF"/>
                </a:solidFill>
              </a:rPr>
              <a:t>блюда</a:t>
            </a:r>
            <a:endParaRPr lang="en-US" sz="251" dirty="0"/>
          </a:p>
        </p:txBody>
      </p:sp>
      <p:sp>
        <p:nvSpPr>
          <p:cNvPr id="21" name="Shape 19"/>
          <p:cNvSpPr/>
          <p:nvPr/>
        </p:nvSpPr>
        <p:spPr>
          <a:xfrm>
            <a:off x="4134638" y="626281"/>
            <a:ext cx="0" cy="2706"/>
          </a:xfrm>
          <a:prstGeom prst="line">
            <a:avLst/>
          </a:prstGeom>
          <a:noFill/>
          <a:ln w="16510">
            <a:solidFill>
              <a:srgbClr val="8B3A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5264" y="802180"/>
            <a:ext cx="0" cy="81184"/>
          </a:xfrm>
          <a:prstGeom prst="line">
            <a:avLst/>
          </a:prstGeom>
          <a:noFill/>
          <a:ln w="16510">
            <a:solidFill>
              <a:srgbClr val="8B3A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03762" y="883364"/>
            <a:ext cx="663004" cy="167781"/>
          </a:xfrm>
          <a:prstGeom prst="roundRect">
            <a:avLst>
              <a:gd name="adj" fmla="val 16129"/>
            </a:avLst>
          </a:prstGeom>
          <a:solidFill>
            <a:srgbClr val="F5C6A8"/>
          </a:solidFill>
          <a:ln w="17780">
            <a:solidFill>
              <a:srgbClr val="8B3A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03762" y="883364"/>
            <a:ext cx="663004" cy="167781"/>
          </a:xfrm>
          <a:prstGeom prst="rect">
            <a:avLst/>
          </a:prstGeom>
          <a:noFill/>
          <a:ln/>
        </p:spPr>
        <p:txBody>
          <a:bodyPr wrap="square" lIns="15034" tIns="15034" rIns="15034" bIns="15034" rtlCol="0" anchor="ctr"/>
          <a:lstStyle/>
          <a:p>
            <a:pPr algn="ctr"/>
            <a:r>
              <a:rPr lang="en-US" sz="251" dirty="0">
                <a:solidFill>
                  <a:srgbClr val="4A1000"/>
                </a:solidFill>
              </a:rPr>
              <a:t>1.1 Найти рецепт</a:t>
            </a:r>
            <a:endParaRPr lang="en-US" sz="251" dirty="0"/>
          </a:p>
          <a:p>
            <a:pPr algn="ctr"/>
            <a:r>
              <a:rPr lang="en-US" sz="251" dirty="0">
                <a:solidFill>
                  <a:srgbClr val="4A1000"/>
                </a:solidFill>
              </a:rPr>
              <a:t>блюда</a:t>
            </a:r>
            <a:endParaRPr lang="en-US" sz="251" dirty="0"/>
          </a:p>
        </p:txBody>
      </p:sp>
      <p:sp>
        <p:nvSpPr>
          <p:cNvPr id="25" name="Shape 23"/>
          <p:cNvSpPr/>
          <p:nvPr/>
        </p:nvSpPr>
        <p:spPr>
          <a:xfrm>
            <a:off x="1103762" y="1094443"/>
            <a:ext cx="663004" cy="167781"/>
          </a:xfrm>
          <a:prstGeom prst="roundRect">
            <a:avLst>
              <a:gd name="adj" fmla="val 16129"/>
            </a:avLst>
          </a:prstGeom>
          <a:solidFill>
            <a:srgbClr val="F5C6A8"/>
          </a:solidFill>
          <a:ln w="17780">
            <a:solidFill>
              <a:srgbClr val="8B3A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03762" y="1094443"/>
            <a:ext cx="663004" cy="167781"/>
          </a:xfrm>
          <a:prstGeom prst="rect">
            <a:avLst/>
          </a:prstGeom>
          <a:noFill/>
          <a:ln/>
        </p:spPr>
        <p:txBody>
          <a:bodyPr wrap="square" lIns="15034" tIns="15034" rIns="15034" bIns="15034" rtlCol="0" anchor="ctr"/>
          <a:lstStyle/>
          <a:p>
            <a:pPr algn="ctr"/>
            <a:r>
              <a:rPr lang="en-US" sz="251" dirty="0">
                <a:solidFill>
                  <a:srgbClr val="4A1000"/>
                </a:solidFill>
              </a:rPr>
              <a:t>1.2 Сравнить список</a:t>
            </a:r>
            <a:endParaRPr lang="en-US" sz="251" dirty="0"/>
          </a:p>
          <a:p>
            <a:pPr algn="ctr"/>
            <a:r>
              <a:rPr lang="en-US" sz="251" dirty="0">
                <a:solidFill>
                  <a:srgbClr val="4A1000"/>
                </a:solidFill>
              </a:rPr>
              <a:t>с тем, что есть</a:t>
            </a:r>
            <a:endParaRPr lang="en-US" sz="251" dirty="0"/>
          </a:p>
        </p:txBody>
      </p:sp>
      <p:sp>
        <p:nvSpPr>
          <p:cNvPr id="27" name="Shape 25"/>
          <p:cNvSpPr/>
          <p:nvPr/>
        </p:nvSpPr>
        <p:spPr>
          <a:xfrm>
            <a:off x="1435264" y="1051145"/>
            <a:ext cx="0" cy="43298"/>
          </a:xfrm>
          <a:prstGeom prst="line">
            <a:avLst/>
          </a:prstGeom>
          <a:noFill/>
          <a:ln w="16510">
            <a:solidFill>
              <a:srgbClr val="8B3A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03762" y="1305522"/>
            <a:ext cx="663004" cy="167781"/>
          </a:xfrm>
          <a:prstGeom prst="roundRect">
            <a:avLst>
              <a:gd name="adj" fmla="val 16129"/>
            </a:avLst>
          </a:prstGeom>
          <a:solidFill>
            <a:srgbClr val="F5C6A8"/>
          </a:solidFill>
          <a:ln w="17780">
            <a:solidFill>
              <a:srgbClr val="8B3A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03762" y="1305522"/>
            <a:ext cx="663004" cy="167781"/>
          </a:xfrm>
          <a:prstGeom prst="rect">
            <a:avLst/>
          </a:prstGeom>
          <a:noFill/>
          <a:ln/>
        </p:spPr>
        <p:txBody>
          <a:bodyPr wrap="square" lIns="15034" tIns="15034" rIns="15034" bIns="15034" rtlCol="0" anchor="ctr"/>
          <a:lstStyle/>
          <a:p>
            <a:pPr algn="ctr"/>
            <a:r>
              <a:rPr lang="en-US" sz="251" dirty="0">
                <a:solidFill>
                  <a:srgbClr val="4A1000"/>
                </a:solidFill>
              </a:rPr>
              <a:t>1.3 Купить</a:t>
            </a:r>
            <a:endParaRPr lang="en-US" sz="251" dirty="0"/>
          </a:p>
          <a:p>
            <a:pPr algn="ctr"/>
            <a:r>
              <a:rPr lang="en-US" sz="251" dirty="0">
                <a:solidFill>
                  <a:srgbClr val="4A1000"/>
                </a:solidFill>
              </a:rPr>
              <a:t>недостающее</a:t>
            </a:r>
            <a:endParaRPr lang="en-US" sz="251" dirty="0"/>
          </a:p>
        </p:txBody>
      </p:sp>
      <p:sp>
        <p:nvSpPr>
          <p:cNvPr id="30" name="Shape 28"/>
          <p:cNvSpPr/>
          <p:nvPr/>
        </p:nvSpPr>
        <p:spPr>
          <a:xfrm>
            <a:off x="1435264" y="1262224"/>
            <a:ext cx="0" cy="43298"/>
          </a:xfrm>
          <a:prstGeom prst="line">
            <a:avLst/>
          </a:prstGeom>
          <a:noFill/>
          <a:ln w="16510">
            <a:solidFill>
              <a:srgbClr val="8B3A0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335055" y="802180"/>
            <a:ext cx="0" cy="81184"/>
          </a:xfrm>
          <a:prstGeom prst="line">
            <a:avLst/>
          </a:prstGeom>
          <a:noFill/>
          <a:ln w="16510">
            <a:solidFill>
              <a:srgbClr val="8B3A0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003554" y="883364"/>
            <a:ext cx="663004" cy="167781"/>
          </a:xfrm>
          <a:prstGeom prst="roundRect">
            <a:avLst>
              <a:gd name="adj" fmla="val 16129"/>
            </a:avLst>
          </a:prstGeom>
          <a:solidFill>
            <a:srgbClr val="F5C6A8"/>
          </a:solidFill>
          <a:ln w="17780">
            <a:solidFill>
              <a:srgbClr val="8B3A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003554" y="883364"/>
            <a:ext cx="663004" cy="167781"/>
          </a:xfrm>
          <a:prstGeom prst="rect">
            <a:avLst/>
          </a:prstGeom>
          <a:noFill/>
          <a:ln/>
        </p:spPr>
        <p:txBody>
          <a:bodyPr wrap="square" lIns="15034" tIns="15034" rIns="15034" bIns="15034" rtlCol="0" anchor="ctr"/>
          <a:lstStyle/>
          <a:p>
            <a:pPr algn="ctr"/>
            <a:r>
              <a:rPr lang="en-US" sz="251" dirty="0">
                <a:solidFill>
                  <a:srgbClr val="4A1000"/>
                </a:solidFill>
              </a:rPr>
              <a:t>2.1 Замочить хлеб</a:t>
            </a:r>
            <a:endParaRPr lang="en-US" sz="251" dirty="0"/>
          </a:p>
          <a:p>
            <a:pPr algn="ctr"/>
            <a:r>
              <a:rPr lang="en-US" sz="251" dirty="0">
                <a:solidFill>
                  <a:srgbClr val="4A1000"/>
                </a:solidFill>
              </a:rPr>
              <a:t>в сливках</a:t>
            </a:r>
            <a:endParaRPr lang="en-US" sz="251" dirty="0"/>
          </a:p>
        </p:txBody>
      </p:sp>
      <p:sp>
        <p:nvSpPr>
          <p:cNvPr id="34" name="Shape 32"/>
          <p:cNvSpPr/>
          <p:nvPr/>
        </p:nvSpPr>
        <p:spPr>
          <a:xfrm>
            <a:off x="2003554" y="1094443"/>
            <a:ext cx="663004" cy="167781"/>
          </a:xfrm>
          <a:prstGeom prst="roundRect">
            <a:avLst>
              <a:gd name="adj" fmla="val 16129"/>
            </a:avLst>
          </a:prstGeom>
          <a:solidFill>
            <a:srgbClr val="F5C6A8"/>
          </a:solidFill>
          <a:ln w="17780">
            <a:solidFill>
              <a:srgbClr val="8B3A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003554" y="1094443"/>
            <a:ext cx="663004" cy="167781"/>
          </a:xfrm>
          <a:prstGeom prst="rect">
            <a:avLst/>
          </a:prstGeom>
          <a:noFill/>
          <a:ln/>
        </p:spPr>
        <p:txBody>
          <a:bodyPr wrap="square" lIns="15034" tIns="15034" rIns="15034" bIns="15034" rtlCol="0" anchor="ctr"/>
          <a:lstStyle/>
          <a:p>
            <a:pPr algn="ctr"/>
            <a:r>
              <a:rPr lang="en-US" sz="251" dirty="0">
                <a:solidFill>
                  <a:srgbClr val="4A1000"/>
                </a:solidFill>
              </a:rPr>
              <a:t>2.2 Измельчить</a:t>
            </a:r>
            <a:endParaRPr lang="en-US" sz="251" dirty="0"/>
          </a:p>
          <a:p>
            <a:pPr algn="ctr"/>
            <a:r>
              <a:rPr lang="en-US" sz="251" dirty="0">
                <a:solidFill>
                  <a:srgbClr val="4A1000"/>
                </a:solidFill>
              </a:rPr>
              <a:t>курицу</a:t>
            </a:r>
            <a:endParaRPr lang="en-US" sz="251" dirty="0"/>
          </a:p>
        </p:txBody>
      </p:sp>
      <p:sp>
        <p:nvSpPr>
          <p:cNvPr id="36" name="Shape 34"/>
          <p:cNvSpPr/>
          <p:nvPr/>
        </p:nvSpPr>
        <p:spPr>
          <a:xfrm>
            <a:off x="2335055" y="1051145"/>
            <a:ext cx="0" cy="43298"/>
          </a:xfrm>
          <a:prstGeom prst="line">
            <a:avLst/>
          </a:prstGeom>
          <a:noFill/>
          <a:ln w="16510">
            <a:solidFill>
              <a:srgbClr val="8B3A0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003554" y="1305522"/>
            <a:ext cx="663004" cy="167781"/>
          </a:xfrm>
          <a:prstGeom prst="roundRect">
            <a:avLst>
              <a:gd name="adj" fmla="val 16129"/>
            </a:avLst>
          </a:prstGeom>
          <a:solidFill>
            <a:srgbClr val="F5C6A8"/>
          </a:solidFill>
          <a:ln w="17780">
            <a:solidFill>
              <a:srgbClr val="8B3A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003554" y="1305522"/>
            <a:ext cx="663004" cy="167781"/>
          </a:xfrm>
          <a:prstGeom prst="rect">
            <a:avLst/>
          </a:prstGeom>
          <a:noFill/>
          <a:ln/>
        </p:spPr>
        <p:txBody>
          <a:bodyPr wrap="square" lIns="15034" tIns="15034" rIns="15034" bIns="15034" rtlCol="0" anchor="ctr"/>
          <a:lstStyle/>
          <a:p>
            <a:pPr algn="ctr"/>
            <a:r>
              <a:rPr lang="en-US" sz="251" dirty="0">
                <a:solidFill>
                  <a:srgbClr val="4A1000"/>
                </a:solidFill>
              </a:rPr>
              <a:t>2.3 Смешать фарш,</a:t>
            </a:r>
            <a:endParaRPr lang="en-US" sz="251" dirty="0"/>
          </a:p>
          <a:p>
            <a:pPr algn="ctr"/>
            <a:r>
              <a:rPr lang="en-US" sz="251" dirty="0">
                <a:solidFill>
                  <a:srgbClr val="4A1000"/>
                </a:solidFill>
              </a:rPr>
              <a:t>сформировать котлеты</a:t>
            </a:r>
            <a:endParaRPr lang="en-US" sz="251" dirty="0"/>
          </a:p>
        </p:txBody>
      </p:sp>
      <p:sp>
        <p:nvSpPr>
          <p:cNvPr id="39" name="Shape 37"/>
          <p:cNvSpPr/>
          <p:nvPr/>
        </p:nvSpPr>
        <p:spPr>
          <a:xfrm>
            <a:off x="2335055" y="1262224"/>
            <a:ext cx="0" cy="43298"/>
          </a:xfrm>
          <a:prstGeom prst="line">
            <a:avLst/>
          </a:prstGeom>
          <a:noFill/>
          <a:ln w="16510">
            <a:solidFill>
              <a:srgbClr val="8B3A0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234847" y="802180"/>
            <a:ext cx="0" cy="81184"/>
          </a:xfrm>
          <a:prstGeom prst="line">
            <a:avLst/>
          </a:prstGeom>
          <a:noFill/>
          <a:ln w="16510">
            <a:solidFill>
              <a:srgbClr val="8B3A0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903345" y="883364"/>
            <a:ext cx="663004" cy="167781"/>
          </a:xfrm>
          <a:prstGeom prst="roundRect">
            <a:avLst>
              <a:gd name="adj" fmla="val 16129"/>
            </a:avLst>
          </a:prstGeom>
          <a:solidFill>
            <a:srgbClr val="FAD7A0"/>
          </a:solidFill>
          <a:ln w="17780">
            <a:solidFill>
              <a:srgbClr val="8B3A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903345" y="883364"/>
            <a:ext cx="663004" cy="167781"/>
          </a:xfrm>
          <a:prstGeom prst="rect">
            <a:avLst/>
          </a:prstGeom>
          <a:noFill/>
          <a:ln/>
        </p:spPr>
        <p:txBody>
          <a:bodyPr wrap="square" lIns="15034" tIns="15034" rIns="15034" bIns="15034" rtlCol="0" anchor="ctr"/>
          <a:lstStyle/>
          <a:p>
            <a:pPr algn="ctr"/>
            <a:r>
              <a:rPr lang="en-US" sz="251" dirty="0">
                <a:solidFill>
                  <a:srgbClr val="4A1000"/>
                </a:solidFill>
              </a:rPr>
              <a:t>3.1 Обвалять</a:t>
            </a:r>
            <a:endParaRPr lang="en-US" sz="251" dirty="0"/>
          </a:p>
          <a:p>
            <a:pPr algn="ctr"/>
            <a:r>
              <a:rPr lang="en-US" sz="251" dirty="0">
                <a:solidFill>
                  <a:srgbClr val="4A1000"/>
                </a:solidFill>
              </a:rPr>
              <a:t>в сухарях</a:t>
            </a:r>
            <a:endParaRPr lang="en-US" sz="251" dirty="0"/>
          </a:p>
        </p:txBody>
      </p:sp>
      <p:sp>
        <p:nvSpPr>
          <p:cNvPr id="43" name="Shape 41"/>
          <p:cNvSpPr/>
          <p:nvPr/>
        </p:nvSpPr>
        <p:spPr>
          <a:xfrm>
            <a:off x="2903345" y="1094443"/>
            <a:ext cx="663004" cy="167781"/>
          </a:xfrm>
          <a:prstGeom prst="roundRect">
            <a:avLst>
              <a:gd name="adj" fmla="val 16129"/>
            </a:avLst>
          </a:prstGeom>
          <a:solidFill>
            <a:srgbClr val="FAD7A0"/>
          </a:solidFill>
          <a:ln w="17780">
            <a:solidFill>
              <a:srgbClr val="8B3A0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903345" y="1094443"/>
            <a:ext cx="663004" cy="167781"/>
          </a:xfrm>
          <a:prstGeom prst="rect">
            <a:avLst/>
          </a:prstGeom>
          <a:noFill/>
          <a:ln/>
        </p:spPr>
        <p:txBody>
          <a:bodyPr wrap="square" lIns="15034" tIns="15034" rIns="15034" bIns="15034" rtlCol="0" anchor="ctr"/>
          <a:lstStyle/>
          <a:p>
            <a:pPr algn="ctr"/>
            <a:r>
              <a:rPr lang="en-US" sz="251" dirty="0">
                <a:solidFill>
                  <a:srgbClr val="4A1000"/>
                </a:solidFill>
              </a:rPr>
              <a:t>3.2 Обжарить</a:t>
            </a:r>
            <a:endParaRPr lang="en-US" sz="251" dirty="0"/>
          </a:p>
          <a:p>
            <a:pPr algn="ctr"/>
            <a:r>
              <a:rPr lang="en-US" sz="251" dirty="0">
                <a:solidFill>
                  <a:srgbClr val="4A1000"/>
                </a:solidFill>
              </a:rPr>
              <a:t>на сковороде</a:t>
            </a:r>
            <a:endParaRPr lang="en-US" sz="251" dirty="0"/>
          </a:p>
        </p:txBody>
      </p:sp>
      <p:sp>
        <p:nvSpPr>
          <p:cNvPr id="45" name="Shape 43"/>
          <p:cNvSpPr/>
          <p:nvPr/>
        </p:nvSpPr>
        <p:spPr>
          <a:xfrm>
            <a:off x="3234847" y="1051145"/>
            <a:ext cx="0" cy="43298"/>
          </a:xfrm>
          <a:prstGeom prst="line">
            <a:avLst/>
          </a:prstGeom>
          <a:noFill/>
          <a:ln w="16510">
            <a:solidFill>
              <a:srgbClr val="8B3A0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903345" y="1305522"/>
            <a:ext cx="663004" cy="167781"/>
          </a:xfrm>
          <a:prstGeom prst="roundRect">
            <a:avLst>
              <a:gd name="adj" fmla="val 16129"/>
            </a:avLst>
          </a:prstGeom>
          <a:solidFill>
            <a:srgbClr val="FAD7A0"/>
          </a:solidFill>
          <a:ln w="17780">
            <a:solidFill>
              <a:srgbClr val="8B3A0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903345" y="1305522"/>
            <a:ext cx="663004" cy="167781"/>
          </a:xfrm>
          <a:prstGeom prst="rect">
            <a:avLst/>
          </a:prstGeom>
          <a:noFill/>
          <a:ln/>
        </p:spPr>
        <p:txBody>
          <a:bodyPr wrap="square" lIns="15034" tIns="15034" rIns="15034" bIns="15034" rtlCol="0" anchor="ctr"/>
          <a:lstStyle/>
          <a:p>
            <a:pPr algn="ctr"/>
            <a:r>
              <a:rPr lang="en-US" sz="251" dirty="0">
                <a:solidFill>
                  <a:srgbClr val="4A1000"/>
                </a:solidFill>
              </a:rPr>
              <a:t>3.3 Довести</a:t>
            </a:r>
            <a:endParaRPr lang="en-US" sz="251" dirty="0"/>
          </a:p>
          <a:p>
            <a:pPr algn="ctr"/>
            <a:r>
              <a:rPr lang="en-US" sz="251" dirty="0">
                <a:solidFill>
                  <a:srgbClr val="4A1000"/>
                </a:solidFill>
              </a:rPr>
              <a:t>в духовке</a:t>
            </a:r>
            <a:endParaRPr lang="en-US" sz="251" dirty="0"/>
          </a:p>
        </p:txBody>
      </p:sp>
      <p:sp>
        <p:nvSpPr>
          <p:cNvPr id="48" name="Shape 46"/>
          <p:cNvSpPr/>
          <p:nvPr/>
        </p:nvSpPr>
        <p:spPr>
          <a:xfrm>
            <a:off x="3234847" y="1262224"/>
            <a:ext cx="0" cy="43298"/>
          </a:xfrm>
          <a:prstGeom prst="line">
            <a:avLst/>
          </a:prstGeom>
          <a:noFill/>
          <a:ln w="16510">
            <a:solidFill>
              <a:srgbClr val="8B3A0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134638" y="802180"/>
            <a:ext cx="0" cy="81184"/>
          </a:xfrm>
          <a:prstGeom prst="line">
            <a:avLst/>
          </a:prstGeom>
          <a:noFill/>
          <a:ln w="16510">
            <a:solidFill>
              <a:srgbClr val="8B3A0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803136" y="883364"/>
            <a:ext cx="663004" cy="167781"/>
          </a:xfrm>
          <a:prstGeom prst="roundRect">
            <a:avLst>
              <a:gd name="adj" fmla="val 16129"/>
            </a:avLst>
          </a:prstGeom>
          <a:solidFill>
            <a:srgbClr val="F5C6A8"/>
          </a:solidFill>
          <a:ln w="17780">
            <a:solidFill>
              <a:srgbClr val="8B3A0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803136" y="883364"/>
            <a:ext cx="663004" cy="167781"/>
          </a:xfrm>
          <a:prstGeom prst="rect">
            <a:avLst/>
          </a:prstGeom>
          <a:noFill/>
          <a:ln/>
        </p:spPr>
        <p:txBody>
          <a:bodyPr wrap="square" lIns="15034" tIns="15034" rIns="15034" bIns="15034" rtlCol="0" anchor="ctr"/>
          <a:lstStyle/>
          <a:p>
            <a:pPr algn="ctr"/>
            <a:r>
              <a:rPr lang="en-US" sz="251" dirty="0">
                <a:solidFill>
                  <a:srgbClr val="4A1000"/>
                </a:solidFill>
              </a:rPr>
              <a:t>4.1 Выложить</a:t>
            </a:r>
            <a:endParaRPr lang="en-US" sz="251" dirty="0"/>
          </a:p>
          <a:p>
            <a:pPr algn="ctr"/>
            <a:r>
              <a:rPr lang="en-US" sz="251" dirty="0">
                <a:solidFill>
                  <a:srgbClr val="4A1000"/>
                </a:solidFill>
              </a:rPr>
              <a:t>на тарелку</a:t>
            </a:r>
            <a:endParaRPr lang="en-US" sz="251" dirty="0"/>
          </a:p>
        </p:txBody>
      </p:sp>
      <p:sp>
        <p:nvSpPr>
          <p:cNvPr id="52" name="Shape 50"/>
          <p:cNvSpPr/>
          <p:nvPr/>
        </p:nvSpPr>
        <p:spPr>
          <a:xfrm>
            <a:off x="3803136" y="1094443"/>
            <a:ext cx="663004" cy="167781"/>
          </a:xfrm>
          <a:prstGeom prst="roundRect">
            <a:avLst>
              <a:gd name="adj" fmla="val 16129"/>
            </a:avLst>
          </a:prstGeom>
          <a:solidFill>
            <a:srgbClr val="F5C6A8"/>
          </a:solidFill>
          <a:ln w="17780">
            <a:solidFill>
              <a:srgbClr val="8B3A0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803136" y="1094443"/>
            <a:ext cx="663004" cy="167781"/>
          </a:xfrm>
          <a:prstGeom prst="rect">
            <a:avLst/>
          </a:prstGeom>
          <a:noFill/>
          <a:ln/>
        </p:spPr>
        <p:txBody>
          <a:bodyPr wrap="square" lIns="15034" tIns="15034" rIns="15034" bIns="15034" rtlCol="0" anchor="ctr"/>
          <a:lstStyle/>
          <a:p>
            <a:pPr algn="ctr"/>
            <a:r>
              <a:rPr lang="en-US" sz="251" dirty="0">
                <a:solidFill>
                  <a:srgbClr val="4A1000"/>
                </a:solidFill>
              </a:rPr>
              <a:t>4.2 Подать</a:t>
            </a:r>
            <a:endParaRPr lang="en-US" sz="251" dirty="0"/>
          </a:p>
          <a:p>
            <a:pPr algn="ctr"/>
            <a:r>
              <a:rPr lang="en-US" sz="251" dirty="0">
                <a:solidFill>
                  <a:srgbClr val="4A1000"/>
                </a:solidFill>
              </a:rPr>
              <a:t>с гарниром</a:t>
            </a:r>
            <a:endParaRPr lang="en-US" sz="251" dirty="0"/>
          </a:p>
        </p:txBody>
      </p:sp>
      <p:sp>
        <p:nvSpPr>
          <p:cNvPr id="54" name="Shape 52"/>
          <p:cNvSpPr/>
          <p:nvPr/>
        </p:nvSpPr>
        <p:spPr>
          <a:xfrm>
            <a:off x="4134638" y="1051145"/>
            <a:ext cx="0" cy="43298"/>
          </a:xfrm>
          <a:prstGeom prst="line">
            <a:avLst/>
          </a:prstGeom>
          <a:noFill/>
          <a:ln w="16510">
            <a:solidFill>
              <a:srgbClr val="8B3A0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069936" y="1565311"/>
            <a:ext cx="730657" cy="1190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22" dirty="0"/>
          </a:p>
        </p:txBody>
      </p:sp>
      <p:sp>
        <p:nvSpPr>
          <p:cNvPr id="64" name="Text 62"/>
          <p:cNvSpPr/>
          <p:nvPr/>
        </p:nvSpPr>
        <p:spPr>
          <a:xfrm>
            <a:off x="3769310" y="1565311"/>
            <a:ext cx="730657" cy="1190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22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063076" y="112704"/>
            <a:ext cx="2029605" cy="1488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10" b="1" dirty="0"/>
              <a:t>ARIS: Приготовление </a:t>
            </a:r>
            <a:r>
              <a:rPr lang="en-US" sz="310" b="1" dirty="0" err="1"/>
              <a:t>пожарских</a:t>
            </a:r>
            <a:r>
              <a:rPr lang="en-US" sz="310" b="1" dirty="0"/>
              <a:t> </a:t>
            </a:r>
            <a:r>
              <a:rPr lang="en-US" sz="310" b="1" dirty="0" err="1"/>
              <a:t>котлет</a:t>
            </a:r>
            <a:endParaRPr lang="en-US" sz="310" dirty="0"/>
          </a:p>
        </p:txBody>
      </p:sp>
      <p:sp>
        <p:nvSpPr>
          <p:cNvPr id="4" name="Text 2"/>
          <p:cNvSpPr/>
          <p:nvPr/>
        </p:nvSpPr>
        <p:spPr>
          <a:xfrm>
            <a:off x="2389084" y="139766"/>
            <a:ext cx="1298947" cy="70359"/>
          </a:xfrm>
          <a:prstGeom prst="rect">
            <a:avLst/>
          </a:prstGeom>
          <a:noFill/>
          <a:ln/>
        </p:spPr>
        <p:txBody>
          <a:bodyPr wrap="square" lIns="3759" tIns="3759" rIns="3759" bIns="3759" rtlCol="0" anchor="ctr"/>
          <a:lstStyle/>
          <a:p>
            <a:r>
              <a:rPr lang="en-US" sz="207" dirty="0">
                <a:solidFill>
                  <a:srgbClr val="3D1C00"/>
                </a:solidFill>
              </a:rPr>
              <a:t>1. Цель — приготовить пожарские котлеты для семейного стола.</a:t>
            </a:r>
            <a:endParaRPr lang="en-US" sz="207" dirty="0"/>
          </a:p>
        </p:txBody>
      </p:sp>
      <p:sp>
        <p:nvSpPr>
          <p:cNvPr id="5" name="Text 3"/>
          <p:cNvSpPr/>
          <p:nvPr/>
        </p:nvSpPr>
        <p:spPr>
          <a:xfrm>
            <a:off x="2391363" y="196808"/>
            <a:ext cx="1298947" cy="70359"/>
          </a:xfrm>
          <a:prstGeom prst="rect">
            <a:avLst/>
          </a:prstGeom>
          <a:noFill/>
          <a:ln/>
        </p:spPr>
        <p:txBody>
          <a:bodyPr wrap="square" lIns="3759" tIns="3759" rIns="3759" bIns="3759" rtlCol="0" anchor="ctr"/>
          <a:lstStyle/>
          <a:p>
            <a:r>
              <a:rPr lang="en-US" sz="207" dirty="0">
                <a:solidFill>
                  <a:srgbClr val="3D1C00"/>
                </a:solidFill>
              </a:rPr>
              <a:t>2. Точка зрения — повар/хозяйка дома.</a:t>
            </a:r>
            <a:endParaRPr lang="en-US" sz="207" dirty="0"/>
          </a:p>
        </p:txBody>
      </p:sp>
      <p:sp>
        <p:nvSpPr>
          <p:cNvPr id="6" name="Text 4"/>
          <p:cNvSpPr/>
          <p:nvPr/>
        </p:nvSpPr>
        <p:spPr>
          <a:xfrm>
            <a:off x="2391363" y="261684"/>
            <a:ext cx="1298947" cy="70359"/>
          </a:xfrm>
          <a:prstGeom prst="rect">
            <a:avLst/>
          </a:prstGeom>
          <a:noFill/>
          <a:ln/>
        </p:spPr>
        <p:txBody>
          <a:bodyPr wrap="square" lIns="3759" tIns="3759" rIns="3759" bIns="3759" rtlCol="0" anchor="ctr"/>
          <a:lstStyle/>
          <a:p>
            <a:r>
              <a:rPr lang="en-US" sz="207" dirty="0">
                <a:solidFill>
                  <a:srgbClr val="3D1C00"/>
                </a:solidFill>
              </a:rPr>
              <a:t>3. Границы — начало: «</a:t>
            </a:r>
            <a:r>
              <a:rPr lang="en-US" sz="207" dirty="0" err="1">
                <a:solidFill>
                  <a:srgbClr val="3D1C00"/>
                </a:solidFill>
              </a:rPr>
              <a:t>Решено</a:t>
            </a:r>
            <a:r>
              <a:rPr lang="en-US" sz="207" dirty="0">
                <a:solidFill>
                  <a:srgbClr val="3D1C00"/>
                </a:solidFill>
              </a:rPr>
              <a:t> приготовить котлеты»; конец: «Котлеты поданы на стол».</a:t>
            </a:r>
            <a:endParaRPr lang="en-US" sz="207" dirty="0"/>
          </a:p>
        </p:txBody>
      </p:sp>
      <p:sp>
        <p:nvSpPr>
          <p:cNvPr id="7" name="Text 5"/>
          <p:cNvSpPr/>
          <p:nvPr/>
        </p:nvSpPr>
        <p:spPr>
          <a:xfrm>
            <a:off x="2391363" y="324210"/>
            <a:ext cx="1298947" cy="70359"/>
          </a:xfrm>
          <a:prstGeom prst="rect">
            <a:avLst/>
          </a:prstGeom>
          <a:noFill/>
          <a:ln/>
        </p:spPr>
        <p:txBody>
          <a:bodyPr wrap="square" lIns="3759" tIns="3759" rIns="3759" bIns="3759" rtlCol="0" anchor="ctr"/>
          <a:lstStyle/>
          <a:p>
            <a:r>
              <a:rPr lang="en-US" sz="207" dirty="0">
                <a:solidFill>
                  <a:srgbClr val="3D1C00"/>
                </a:solidFill>
              </a:rPr>
              <a:t>4. Внешние связи — вход: рецепт, деньги, интернет. Выход: готовое блюдо, грязная посуда.</a:t>
            </a:r>
            <a:endParaRPr lang="en-US" sz="207" dirty="0"/>
          </a:p>
        </p:txBody>
      </p:sp>
      <p:sp>
        <p:nvSpPr>
          <p:cNvPr id="17" name="Shape 15"/>
          <p:cNvSpPr/>
          <p:nvPr/>
        </p:nvSpPr>
        <p:spPr>
          <a:xfrm>
            <a:off x="3079150" y="924546"/>
            <a:ext cx="102833" cy="59535"/>
          </a:xfrm>
          <a:prstGeom prst="roundRect">
            <a:avLst>
              <a:gd name="adj" fmla="val 22727"/>
            </a:avLst>
          </a:prstGeom>
          <a:solidFill>
            <a:srgbClr val="FDEBD0"/>
          </a:solidFill>
          <a:ln w="15240">
            <a:solidFill>
              <a:srgbClr val="CA6F1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374281" y="280485"/>
            <a:ext cx="865965" cy="140719"/>
          </a:xfrm>
          <a:prstGeom prst="hexagon">
            <a:avLst/>
          </a:prstGeom>
          <a:solidFill>
            <a:srgbClr val="D6EAF8"/>
          </a:solidFill>
          <a:ln w="22860">
            <a:solidFill>
              <a:srgbClr val="1A527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74281" y="280485"/>
            <a:ext cx="865965" cy="140719"/>
          </a:xfrm>
          <a:prstGeom prst="rect">
            <a:avLst/>
          </a:prstGeom>
          <a:noFill/>
          <a:ln/>
        </p:spPr>
        <p:txBody>
          <a:bodyPr wrap="square" lIns="15034" tIns="15034" rIns="15034" bIns="15034" rtlCol="0" anchor="ctr"/>
          <a:lstStyle/>
          <a:p>
            <a:pPr algn="ctr"/>
            <a:r>
              <a:rPr lang="en-US" sz="251" b="1" dirty="0">
                <a:solidFill>
                  <a:srgbClr val="0D2B4E"/>
                </a:solidFill>
              </a:rPr>
              <a:t>Принято решение</a:t>
            </a:r>
            <a:endParaRPr lang="en-US" sz="251" dirty="0"/>
          </a:p>
          <a:p>
            <a:pPr algn="ctr"/>
            <a:r>
              <a:rPr lang="en-US" sz="251" b="1" dirty="0">
                <a:solidFill>
                  <a:srgbClr val="0D2B4E"/>
                </a:solidFill>
              </a:rPr>
              <a:t>приготовить котлеты</a:t>
            </a:r>
            <a:endParaRPr lang="en-US" sz="251" dirty="0"/>
          </a:p>
        </p:txBody>
      </p:sp>
      <p:sp>
        <p:nvSpPr>
          <p:cNvPr id="21" name="Shape 19"/>
          <p:cNvSpPr/>
          <p:nvPr/>
        </p:nvSpPr>
        <p:spPr>
          <a:xfrm>
            <a:off x="1807263" y="421204"/>
            <a:ext cx="0" cy="46004"/>
          </a:xfrm>
          <a:prstGeom prst="line">
            <a:avLst/>
          </a:prstGeom>
          <a:noFill/>
          <a:ln w="19050">
            <a:solidFill>
              <a:srgbClr val="2C3E5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rot="10800000">
            <a:off x="1791027" y="434734"/>
            <a:ext cx="32474" cy="32474"/>
          </a:xfrm>
          <a:prstGeom prst="triangle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374281" y="467208"/>
            <a:ext cx="865965" cy="162369"/>
          </a:xfrm>
          <a:prstGeom prst="roundRect">
            <a:avLst>
              <a:gd name="adj" fmla="val 13333"/>
            </a:avLst>
          </a:prstGeom>
          <a:solidFill>
            <a:srgbClr val="D5F5E3"/>
          </a:solidFill>
          <a:ln w="22860">
            <a:solidFill>
              <a:srgbClr val="1E844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374281" y="467208"/>
            <a:ext cx="865965" cy="162369"/>
          </a:xfrm>
          <a:prstGeom prst="rect">
            <a:avLst/>
          </a:prstGeom>
          <a:noFill/>
          <a:ln/>
        </p:spPr>
        <p:txBody>
          <a:bodyPr wrap="square" lIns="15034" tIns="15034" rIns="15034" bIns="15034" rtlCol="0" anchor="ctr"/>
          <a:lstStyle/>
          <a:p>
            <a:pPr algn="ctr"/>
            <a:r>
              <a:rPr lang="en-US" sz="251" b="1" dirty="0">
                <a:solidFill>
                  <a:srgbClr val="0B3D20"/>
                </a:solidFill>
              </a:rPr>
              <a:t>1.1 Найти рецепт</a:t>
            </a:r>
            <a:endParaRPr lang="en-US" sz="251" dirty="0"/>
          </a:p>
          <a:p>
            <a:pPr algn="ctr"/>
            <a:r>
              <a:rPr lang="en-US" sz="251" b="1" dirty="0">
                <a:solidFill>
                  <a:srgbClr val="0B3D20"/>
                </a:solidFill>
              </a:rPr>
              <a:t>(интернет, кулинарная книга)</a:t>
            </a:r>
            <a:endParaRPr lang="en-US" sz="251" dirty="0"/>
          </a:p>
        </p:txBody>
      </p:sp>
      <p:sp>
        <p:nvSpPr>
          <p:cNvPr id="25" name="Shape 23"/>
          <p:cNvSpPr/>
          <p:nvPr/>
        </p:nvSpPr>
        <p:spPr>
          <a:xfrm>
            <a:off x="2740882" y="480739"/>
            <a:ext cx="438395" cy="124482"/>
          </a:xfrm>
          <a:prstGeom prst="rect">
            <a:avLst/>
          </a:prstGeom>
          <a:solidFill>
            <a:srgbClr val="F9F2FF"/>
          </a:solidFill>
          <a:ln w="15240">
            <a:solidFill>
              <a:srgbClr val="7D3C98"/>
            </a:solidFill>
            <a:prstDash val="sysDash"/>
          </a:ln>
        </p:spPr>
      </p:sp>
      <p:sp>
        <p:nvSpPr>
          <p:cNvPr id="26" name="Text 24"/>
          <p:cNvSpPr/>
          <p:nvPr/>
        </p:nvSpPr>
        <p:spPr>
          <a:xfrm>
            <a:off x="2740882" y="480739"/>
            <a:ext cx="438395" cy="124482"/>
          </a:xfrm>
          <a:prstGeom prst="rect">
            <a:avLst/>
          </a:prstGeom>
          <a:noFill/>
          <a:ln/>
        </p:spPr>
        <p:txBody>
          <a:bodyPr wrap="square" lIns="11276" tIns="11276" rIns="11276" bIns="11276" rtlCol="0" anchor="ctr"/>
          <a:lstStyle/>
          <a:p>
            <a:pPr algn="ctr"/>
            <a:r>
              <a:rPr lang="en-US" sz="222" dirty="0">
                <a:solidFill>
                  <a:srgbClr val="4A235A"/>
                </a:solidFill>
              </a:rPr>
              <a:t>Телефон,</a:t>
            </a:r>
            <a:endParaRPr lang="en-US" sz="222" dirty="0"/>
          </a:p>
          <a:p>
            <a:pPr algn="ctr"/>
            <a:r>
              <a:rPr lang="en-US" sz="222" dirty="0">
                <a:solidFill>
                  <a:srgbClr val="4A235A"/>
                </a:solidFill>
              </a:rPr>
              <a:t>интернет</a:t>
            </a:r>
            <a:endParaRPr lang="en-US" sz="222" dirty="0"/>
          </a:p>
        </p:txBody>
      </p:sp>
      <p:sp>
        <p:nvSpPr>
          <p:cNvPr id="27" name="Shape 25"/>
          <p:cNvSpPr/>
          <p:nvPr/>
        </p:nvSpPr>
        <p:spPr>
          <a:xfrm>
            <a:off x="2240246" y="548392"/>
            <a:ext cx="500636" cy="0"/>
          </a:xfrm>
          <a:prstGeom prst="line">
            <a:avLst/>
          </a:prstGeom>
          <a:noFill/>
          <a:ln w="16510">
            <a:solidFill>
              <a:srgbClr val="2C3E5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807263" y="629576"/>
            <a:ext cx="0" cy="46004"/>
          </a:xfrm>
          <a:prstGeom prst="line">
            <a:avLst/>
          </a:prstGeom>
          <a:noFill/>
          <a:ln w="19050">
            <a:solidFill>
              <a:srgbClr val="2C3E5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rot="10800000">
            <a:off x="1791027" y="643107"/>
            <a:ext cx="32474" cy="32474"/>
          </a:xfrm>
          <a:prstGeom prst="triangle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374281" y="675581"/>
            <a:ext cx="865965" cy="140719"/>
          </a:xfrm>
          <a:prstGeom prst="hexagon">
            <a:avLst/>
          </a:prstGeom>
          <a:solidFill>
            <a:srgbClr val="D6EAF8"/>
          </a:solidFill>
          <a:ln w="22860">
            <a:solidFill>
              <a:srgbClr val="1A527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374281" y="675581"/>
            <a:ext cx="865965" cy="140719"/>
          </a:xfrm>
          <a:prstGeom prst="rect">
            <a:avLst/>
          </a:prstGeom>
          <a:noFill/>
          <a:ln/>
        </p:spPr>
        <p:txBody>
          <a:bodyPr wrap="square" lIns="15034" tIns="15034" rIns="15034" bIns="15034" rtlCol="0" anchor="ctr"/>
          <a:lstStyle/>
          <a:p>
            <a:pPr algn="ctr"/>
            <a:r>
              <a:rPr lang="en-US" sz="251" b="1" dirty="0">
                <a:solidFill>
                  <a:srgbClr val="0D2B4E"/>
                </a:solidFill>
              </a:rPr>
              <a:t>Рецепт найден,</a:t>
            </a:r>
            <a:endParaRPr lang="en-US" sz="251" dirty="0"/>
          </a:p>
          <a:p>
            <a:pPr algn="ctr"/>
            <a:r>
              <a:rPr lang="en-US" sz="251" b="1" dirty="0">
                <a:solidFill>
                  <a:srgbClr val="0D2B4E"/>
                </a:solidFill>
              </a:rPr>
              <a:t>состав блюда известен</a:t>
            </a:r>
            <a:endParaRPr lang="en-US" sz="251" dirty="0"/>
          </a:p>
        </p:txBody>
      </p:sp>
      <p:sp>
        <p:nvSpPr>
          <p:cNvPr id="32" name="Shape 30"/>
          <p:cNvSpPr/>
          <p:nvPr/>
        </p:nvSpPr>
        <p:spPr>
          <a:xfrm>
            <a:off x="1807263" y="816300"/>
            <a:ext cx="0" cy="46004"/>
          </a:xfrm>
          <a:prstGeom prst="line">
            <a:avLst/>
          </a:prstGeom>
          <a:noFill/>
          <a:ln w="19050">
            <a:solidFill>
              <a:srgbClr val="2C3E5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rot="10800000">
            <a:off x="1791027" y="829831"/>
            <a:ext cx="32474" cy="32474"/>
          </a:xfrm>
          <a:prstGeom prst="triangle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374281" y="862304"/>
            <a:ext cx="865965" cy="162369"/>
          </a:xfrm>
          <a:prstGeom prst="roundRect">
            <a:avLst>
              <a:gd name="adj" fmla="val 13333"/>
            </a:avLst>
          </a:prstGeom>
          <a:solidFill>
            <a:srgbClr val="D5F5E3"/>
          </a:solidFill>
          <a:ln w="22860">
            <a:solidFill>
              <a:srgbClr val="1E844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374281" y="862304"/>
            <a:ext cx="865965" cy="162369"/>
          </a:xfrm>
          <a:prstGeom prst="rect">
            <a:avLst/>
          </a:prstGeom>
          <a:noFill/>
          <a:ln/>
        </p:spPr>
        <p:txBody>
          <a:bodyPr wrap="square" lIns="15034" tIns="15034" rIns="15034" bIns="15034" rtlCol="0" anchor="ctr"/>
          <a:lstStyle/>
          <a:p>
            <a:pPr algn="ctr"/>
            <a:r>
              <a:rPr lang="en-US" sz="251" b="1" dirty="0">
                <a:solidFill>
                  <a:srgbClr val="0B3D20"/>
                </a:solidFill>
              </a:rPr>
              <a:t>1.2 Проверить наличие</a:t>
            </a:r>
            <a:endParaRPr lang="en-US" sz="251" dirty="0"/>
          </a:p>
          <a:p>
            <a:pPr algn="ctr"/>
            <a:r>
              <a:rPr lang="en-US" sz="251" b="1" dirty="0">
                <a:solidFill>
                  <a:srgbClr val="0B3D20"/>
                </a:solidFill>
              </a:rPr>
              <a:t>продуктов на кухне</a:t>
            </a:r>
            <a:endParaRPr lang="en-US" sz="251" dirty="0"/>
          </a:p>
        </p:txBody>
      </p:sp>
      <p:sp>
        <p:nvSpPr>
          <p:cNvPr id="36" name="Shape 34"/>
          <p:cNvSpPr/>
          <p:nvPr/>
        </p:nvSpPr>
        <p:spPr>
          <a:xfrm>
            <a:off x="2740882" y="875835"/>
            <a:ext cx="438395" cy="124482"/>
          </a:xfrm>
          <a:prstGeom prst="rect">
            <a:avLst/>
          </a:prstGeom>
          <a:solidFill>
            <a:srgbClr val="F9F2FF"/>
          </a:solidFill>
          <a:ln w="15240">
            <a:solidFill>
              <a:srgbClr val="7D3C98"/>
            </a:solidFill>
            <a:prstDash val="sysDash"/>
          </a:ln>
        </p:spPr>
      </p:sp>
      <p:sp>
        <p:nvSpPr>
          <p:cNvPr id="37" name="Text 35"/>
          <p:cNvSpPr/>
          <p:nvPr/>
        </p:nvSpPr>
        <p:spPr>
          <a:xfrm>
            <a:off x="2740882" y="875835"/>
            <a:ext cx="438395" cy="124482"/>
          </a:xfrm>
          <a:prstGeom prst="rect">
            <a:avLst/>
          </a:prstGeom>
          <a:noFill/>
          <a:ln/>
        </p:spPr>
        <p:txBody>
          <a:bodyPr wrap="square" lIns="11276" tIns="11276" rIns="11276" bIns="11276" rtlCol="0" anchor="ctr"/>
          <a:lstStyle/>
          <a:p>
            <a:pPr algn="ctr"/>
            <a:r>
              <a:rPr lang="en-US" sz="222" dirty="0">
                <a:solidFill>
                  <a:srgbClr val="4A235A"/>
                </a:solidFill>
              </a:rPr>
              <a:t>Рецепт,</a:t>
            </a:r>
            <a:endParaRPr lang="en-US" sz="222" dirty="0"/>
          </a:p>
          <a:p>
            <a:pPr algn="ctr"/>
            <a:r>
              <a:rPr lang="en-US" sz="222" dirty="0">
                <a:solidFill>
                  <a:srgbClr val="4A235A"/>
                </a:solidFill>
              </a:rPr>
              <a:t>холодильник</a:t>
            </a:r>
            <a:endParaRPr lang="en-US" sz="222" dirty="0"/>
          </a:p>
        </p:txBody>
      </p:sp>
      <p:sp>
        <p:nvSpPr>
          <p:cNvPr id="38" name="Shape 36"/>
          <p:cNvSpPr/>
          <p:nvPr/>
        </p:nvSpPr>
        <p:spPr>
          <a:xfrm>
            <a:off x="2240246" y="943488"/>
            <a:ext cx="500636" cy="0"/>
          </a:xfrm>
          <a:prstGeom prst="line">
            <a:avLst/>
          </a:prstGeom>
          <a:noFill/>
          <a:ln w="16510">
            <a:solidFill>
              <a:srgbClr val="2C3E5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807263" y="1024673"/>
            <a:ext cx="0" cy="232728"/>
          </a:xfrm>
          <a:prstGeom prst="line">
            <a:avLst/>
          </a:prstGeom>
          <a:noFill/>
          <a:ln w="19050">
            <a:solidFill>
              <a:srgbClr val="2C3E5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807263" y="1211397"/>
            <a:ext cx="0" cy="46004"/>
          </a:xfrm>
          <a:prstGeom prst="line">
            <a:avLst/>
          </a:prstGeom>
          <a:noFill/>
          <a:ln w="19050">
            <a:solidFill>
              <a:srgbClr val="2C3E5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rot="10800000">
            <a:off x="1791027" y="1224927"/>
            <a:ext cx="32474" cy="32474"/>
          </a:xfrm>
          <a:prstGeom prst="triangle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747729" y="1257401"/>
            <a:ext cx="119070" cy="119070"/>
          </a:xfrm>
          <a:prstGeom prst="diamond">
            <a:avLst/>
          </a:prstGeom>
          <a:solidFill>
            <a:srgbClr val="FDFEFE"/>
          </a:solidFill>
          <a:ln w="25400">
            <a:solidFill>
              <a:srgbClr val="C0392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747729" y="1257401"/>
            <a:ext cx="119070" cy="1190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7" b="1" dirty="0">
                <a:solidFill>
                  <a:srgbClr val="922B21"/>
                </a:solidFill>
              </a:rPr>
              <a:t>XOR</a:t>
            </a:r>
            <a:endParaRPr lang="en-US" sz="207" dirty="0"/>
          </a:p>
        </p:txBody>
      </p:sp>
      <p:sp>
        <p:nvSpPr>
          <p:cNvPr id="47" name="Text 45"/>
          <p:cNvSpPr/>
          <p:nvPr/>
        </p:nvSpPr>
        <p:spPr>
          <a:xfrm>
            <a:off x="1211913" y="1268226"/>
            <a:ext cx="324737" cy="54123"/>
          </a:xfrm>
          <a:prstGeom prst="rect">
            <a:avLst/>
          </a:prstGeom>
          <a:noFill/>
          <a:ln/>
        </p:spPr>
        <p:txBody>
          <a:bodyPr wrap="square" lIns="3759" tIns="3759" rIns="3759" bIns="3759" rtlCol="0" anchor="ctr"/>
          <a:lstStyle/>
          <a:p>
            <a:r>
              <a:rPr lang="en-US" sz="222" b="1" dirty="0">
                <a:solidFill>
                  <a:srgbClr val="1A5276"/>
                </a:solidFill>
              </a:rPr>
              <a:t>всё есть</a:t>
            </a:r>
            <a:endParaRPr lang="en-US" sz="222" dirty="0"/>
          </a:p>
        </p:txBody>
      </p:sp>
      <p:sp>
        <p:nvSpPr>
          <p:cNvPr id="48" name="Text 46"/>
          <p:cNvSpPr/>
          <p:nvPr/>
        </p:nvSpPr>
        <p:spPr>
          <a:xfrm>
            <a:off x="1883036" y="1268226"/>
            <a:ext cx="378859" cy="54123"/>
          </a:xfrm>
          <a:prstGeom prst="rect">
            <a:avLst/>
          </a:prstGeom>
          <a:noFill/>
          <a:ln/>
        </p:spPr>
        <p:txBody>
          <a:bodyPr wrap="square" lIns="3759" tIns="3759" rIns="3759" bIns="3759" rtlCol="0" anchor="ctr"/>
          <a:lstStyle/>
          <a:p>
            <a:r>
              <a:rPr lang="en-US" sz="222" b="1" dirty="0">
                <a:solidFill>
                  <a:srgbClr val="922B21"/>
                </a:solidFill>
              </a:rPr>
              <a:t>чего-то нет</a:t>
            </a:r>
            <a:endParaRPr lang="en-US" sz="222" dirty="0"/>
          </a:p>
        </p:txBody>
      </p:sp>
      <p:sp>
        <p:nvSpPr>
          <p:cNvPr id="49" name="Shape 47"/>
          <p:cNvSpPr/>
          <p:nvPr/>
        </p:nvSpPr>
        <p:spPr>
          <a:xfrm>
            <a:off x="1387812" y="1316936"/>
            <a:ext cx="359916" cy="0"/>
          </a:xfrm>
          <a:prstGeom prst="line">
            <a:avLst/>
          </a:prstGeom>
          <a:noFill/>
          <a:ln w="16510">
            <a:solidFill>
              <a:srgbClr val="2C3E5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049545" y="1257401"/>
            <a:ext cx="676535" cy="167781"/>
          </a:xfrm>
          <a:prstGeom prst="hexagon">
            <a:avLst/>
          </a:prstGeom>
          <a:solidFill>
            <a:srgbClr val="D6EAF8"/>
          </a:solidFill>
          <a:ln w="22860">
            <a:solidFill>
              <a:srgbClr val="1A527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049545" y="1257401"/>
            <a:ext cx="676535" cy="167781"/>
          </a:xfrm>
          <a:prstGeom prst="rect">
            <a:avLst/>
          </a:prstGeom>
          <a:noFill/>
          <a:ln/>
        </p:spPr>
        <p:txBody>
          <a:bodyPr wrap="square" lIns="15034" tIns="15034" rIns="15034" bIns="15034" rtlCol="0" anchor="ctr"/>
          <a:lstStyle/>
          <a:p>
            <a:pPr algn="ctr"/>
            <a:r>
              <a:rPr lang="en-US" sz="251" b="1" dirty="0">
                <a:solidFill>
                  <a:srgbClr val="0D2B4E"/>
                </a:solidFill>
              </a:rPr>
              <a:t>Все продукты</a:t>
            </a:r>
            <a:endParaRPr lang="en-US" sz="251" dirty="0"/>
          </a:p>
          <a:p>
            <a:pPr algn="ctr"/>
            <a:r>
              <a:rPr lang="en-US" sz="251" b="1" dirty="0">
                <a:solidFill>
                  <a:srgbClr val="0D2B4E"/>
                </a:solidFill>
              </a:rPr>
              <a:t>есть на кухне</a:t>
            </a:r>
            <a:endParaRPr lang="en-US" sz="251" dirty="0"/>
          </a:p>
        </p:txBody>
      </p:sp>
      <p:sp>
        <p:nvSpPr>
          <p:cNvPr id="52" name="Shape 50"/>
          <p:cNvSpPr/>
          <p:nvPr/>
        </p:nvSpPr>
        <p:spPr>
          <a:xfrm>
            <a:off x="1866799" y="1316936"/>
            <a:ext cx="373447" cy="0"/>
          </a:xfrm>
          <a:prstGeom prst="line">
            <a:avLst/>
          </a:prstGeom>
          <a:noFill/>
          <a:ln w="16510">
            <a:solidFill>
              <a:srgbClr val="2C3E5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861387" y="1257401"/>
            <a:ext cx="757719" cy="167781"/>
          </a:xfrm>
          <a:prstGeom prst="hexagon">
            <a:avLst/>
          </a:prstGeom>
          <a:solidFill>
            <a:srgbClr val="D6EAF8"/>
          </a:solidFill>
          <a:ln w="22860">
            <a:solidFill>
              <a:srgbClr val="1A527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861387" y="1257401"/>
            <a:ext cx="757719" cy="167781"/>
          </a:xfrm>
          <a:prstGeom prst="rect">
            <a:avLst/>
          </a:prstGeom>
          <a:noFill/>
          <a:ln/>
        </p:spPr>
        <p:txBody>
          <a:bodyPr wrap="square" lIns="15034" tIns="15034" rIns="15034" bIns="15034" rtlCol="0" anchor="ctr"/>
          <a:lstStyle/>
          <a:p>
            <a:pPr algn="ctr"/>
            <a:r>
              <a:rPr lang="en-US" sz="251" b="1" dirty="0">
                <a:solidFill>
                  <a:srgbClr val="0D2B4E"/>
                </a:solidFill>
              </a:rPr>
              <a:t>Обнаружены</a:t>
            </a:r>
            <a:endParaRPr lang="en-US" sz="251" dirty="0"/>
          </a:p>
          <a:p>
            <a:pPr algn="ctr"/>
            <a:r>
              <a:rPr lang="en-US" sz="251" b="1" dirty="0">
                <a:solidFill>
                  <a:srgbClr val="0D2B4E"/>
                </a:solidFill>
              </a:rPr>
              <a:t>недостающие продукты</a:t>
            </a:r>
            <a:endParaRPr lang="en-US" sz="251" dirty="0"/>
          </a:p>
        </p:txBody>
      </p:sp>
      <p:sp>
        <p:nvSpPr>
          <p:cNvPr id="55" name="Shape 53"/>
          <p:cNvSpPr/>
          <p:nvPr/>
        </p:nvSpPr>
        <p:spPr>
          <a:xfrm>
            <a:off x="1861387" y="1471186"/>
            <a:ext cx="757719" cy="162369"/>
          </a:xfrm>
          <a:prstGeom prst="roundRect">
            <a:avLst>
              <a:gd name="adj" fmla="val 13333"/>
            </a:avLst>
          </a:prstGeom>
          <a:solidFill>
            <a:srgbClr val="D5F5E3"/>
          </a:solidFill>
          <a:ln w="22860">
            <a:solidFill>
              <a:srgbClr val="1E8449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861387" y="1471186"/>
            <a:ext cx="757719" cy="162369"/>
          </a:xfrm>
          <a:prstGeom prst="rect">
            <a:avLst/>
          </a:prstGeom>
          <a:noFill/>
          <a:ln/>
        </p:spPr>
        <p:txBody>
          <a:bodyPr wrap="square" lIns="15034" tIns="15034" rIns="15034" bIns="15034" rtlCol="0" anchor="ctr"/>
          <a:lstStyle/>
          <a:p>
            <a:pPr algn="ctr"/>
            <a:r>
              <a:rPr lang="en-US" sz="251" b="1" dirty="0">
                <a:solidFill>
                  <a:srgbClr val="0B3D20"/>
                </a:solidFill>
              </a:rPr>
              <a:t>1.3 Составить список</a:t>
            </a:r>
            <a:endParaRPr lang="en-US" sz="251" dirty="0"/>
          </a:p>
          <a:p>
            <a:pPr algn="ctr"/>
            <a:r>
              <a:rPr lang="en-US" sz="251" b="1" dirty="0">
                <a:solidFill>
                  <a:srgbClr val="0B3D20"/>
                </a:solidFill>
              </a:rPr>
              <a:t>недостающих продуктов</a:t>
            </a:r>
            <a:endParaRPr lang="en-US" sz="251" dirty="0"/>
          </a:p>
        </p:txBody>
      </p:sp>
      <p:sp>
        <p:nvSpPr>
          <p:cNvPr id="57" name="Shape 55"/>
          <p:cNvSpPr/>
          <p:nvPr/>
        </p:nvSpPr>
        <p:spPr>
          <a:xfrm>
            <a:off x="2240246" y="1425182"/>
            <a:ext cx="0" cy="46004"/>
          </a:xfrm>
          <a:prstGeom prst="line">
            <a:avLst/>
          </a:prstGeom>
          <a:noFill/>
          <a:ln w="19050">
            <a:solidFill>
              <a:srgbClr val="2C3E5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 rot="10800000">
            <a:off x="2224010" y="1438712"/>
            <a:ext cx="32474" cy="32474"/>
          </a:xfrm>
          <a:prstGeom prst="triangle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861387" y="1679559"/>
            <a:ext cx="757719" cy="154250"/>
          </a:xfrm>
          <a:prstGeom prst="hexagon">
            <a:avLst/>
          </a:prstGeom>
          <a:solidFill>
            <a:srgbClr val="D6EAF8"/>
          </a:solidFill>
          <a:ln w="22860">
            <a:solidFill>
              <a:srgbClr val="1A527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861387" y="1679559"/>
            <a:ext cx="757719" cy="154250"/>
          </a:xfrm>
          <a:prstGeom prst="rect">
            <a:avLst/>
          </a:prstGeom>
          <a:noFill/>
          <a:ln/>
        </p:spPr>
        <p:txBody>
          <a:bodyPr wrap="square" lIns="15034" tIns="15034" rIns="15034" bIns="15034" rtlCol="0" anchor="ctr"/>
          <a:lstStyle/>
          <a:p>
            <a:pPr algn="ctr"/>
            <a:r>
              <a:rPr lang="en-US" sz="251" b="1" dirty="0">
                <a:solidFill>
                  <a:srgbClr val="0D2B4E"/>
                </a:solidFill>
              </a:rPr>
              <a:t>Список недостающих</a:t>
            </a:r>
            <a:endParaRPr lang="en-US" sz="251" dirty="0"/>
          </a:p>
          <a:p>
            <a:pPr algn="ctr"/>
            <a:r>
              <a:rPr lang="en-US" sz="251" b="1" dirty="0">
                <a:solidFill>
                  <a:srgbClr val="0D2B4E"/>
                </a:solidFill>
              </a:rPr>
              <a:t>составлен</a:t>
            </a:r>
            <a:endParaRPr lang="en-US" sz="251" dirty="0"/>
          </a:p>
        </p:txBody>
      </p:sp>
      <p:sp>
        <p:nvSpPr>
          <p:cNvPr id="61" name="Shape 59"/>
          <p:cNvSpPr/>
          <p:nvPr/>
        </p:nvSpPr>
        <p:spPr>
          <a:xfrm>
            <a:off x="2240246" y="1633555"/>
            <a:ext cx="0" cy="46004"/>
          </a:xfrm>
          <a:prstGeom prst="line">
            <a:avLst/>
          </a:prstGeom>
          <a:noFill/>
          <a:ln w="19050">
            <a:solidFill>
              <a:srgbClr val="2C3E5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 rot="10800000">
            <a:off x="2224010" y="1647085"/>
            <a:ext cx="32474" cy="32474"/>
          </a:xfrm>
          <a:prstGeom prst="triangle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861387" y="1879813"/>
            <a:ext cx="757719" cy="162369"/>
          </a:xfrm>
          <a:prstGeom prst="roundRect">
            <a:avLst>
              <a:gd name="adj" fmla="val 13333"/>
            </a:avLst>
          </a:prstGeom>
          <a:solidFill>
            <a:srgbClr val="D5F5E3"/>
          </a:solidFill>
          <a:ln w="22860">
            <a:solidFill>
              <a:srgbClr val="1E8449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861387" y="1879813"/>
            <a:ext cx="757719" cy="162369"/>
          </a:xfrm>
          <a:prstGeom prst="rect">
            <a:avLst/>
          </a:prstGeom>
          <a:noFill/>
          <a:ln/>
        </p:spPr>
        <p:txBody>
          <a:bodyPr wrap="square" lIns="15034" tIns="15034" rIns="15034" bIns="15034" rtlCol="0" anchor="ctr"/>
          <a:lstStyle/>
          <a:p>
            <a:pPr algn="ctr"/>
            <a:r>
              <a:rPr lang="en-US" sz="251" b="1" dirty="0">
                <a:solidFill>
                  <a:srgbClr val="0B3D20"/>
                </a:solidFill>
              </a:rPr>
              <a:t>1.4 Купить продукты</a:t>
            </a:r>
            <a:endParaRPr lang="en-US" sz="251" dirty="0"/>
          </a:p>
          <a:p>
            <a:pPr algn="ctr"/>
            <a:r>
              <a:rPr lang="en-US" sz="251" b="1" dirty="0">
                <a:solidFill>
                  <a:srgbClr val="0B3D20"/>
                </a:solidFill>
              </a:rPr>
              <a:t>по списку</a:t>
            </a:r>
            <a:endParaRPr lang="en-US" sz="251" dirty="0"/>
          </a:p>
        </p:txBody>
      </p:sp>
      <p:sp>
        <p:nvSpPr>
          <p:cNvPr id="65" name="Shape 63"/>
          <p:cNvSpPr/>
          <p:nvPr/>
        </p:nvSpPr>
        <p:spPr>
          <a:xfrm>
            <a:off x="2646167" y="1893344"/>
            <a:ext cx="324737" cy="124482"/>
          </a:xfrm>
          <a:prstGeom prst="rect">
            <a:avLst/>
          </a:prstGeom>
          <a:solidFill>
            <a:srgbClr val="F9F2FF"/>
          </a:solidFill>
          <a:ln w="15240">
            <a:solidFill>
              <a:srgbClr val="7D3C98"/>
            </a:solidFill>
            <a:prstDash val="sysDash"/>
          </a:ln>
        </p:spPr>
      </p:sp>
      <p:sp>
        <p:nvSpPr>
          <p:cNvPr id="66" name="Text 64"/>
          <p:cNvSpPr/>
          <p:nvPr/>
        </p:nvSpPr>
        <p:spPr>
          <a:xfrm>
            <a:off x="2646167" y="1893344"/>
            <a:ext cx="324737" cy="124482"/>
          </a:xfrm>
          <a:prstGeom prst="rect">
            <a:avLst/>
          </a:prstGeom>
          <a:noFill/>
          <a:ln/>
        </p:spPr>
        <p:txBody>
          <a:bodyPr wrap="square" lIns="11276" tIns="11276" rIns="11276" bIns="11276" rtlCol="0" anchor="ctr"/>
          <a:lstStyle/>
          <a:p>
            <a:pPr algn="ctr"/>
            <a:r>
              <a:rPr lang="en-US" sz="222" dirty="0">
                <a:solidFill>
                  <a:srgbClr val="4A235A"/>
                </a:solidFill>
              </a:rPr>
              <a:t>Деньги,</a:t>
            </a:r>
            <a:endParaRPr lang="en-US" sz="222" dirty="0"/>
          </a:p>
          <a:p>
            <a:pPr algn="ctr"/>
            <a:r>
              <a:rPr lang="en-US" sz="222" dirty="0">
                <a:solidFill>
                  <a:srgbClr val="4A235A"/>
                </a:solidFill>
              </a:rPr>
              <a:t>список</a:t>
            </a:r>
            <a:endParaRPr lang="en-US" sz="222" dirty="0"/>
          </a:p>
        </p:txBody>
      </p:sp>
      <p:sp>
        <p:nvSpPr>
          <p:cNvPr id="67" name="Shape 65"/>
          <p:cNvSpPr/>
          <p:nvPr/>
        </p:nvSpPr>
        <p:spPr>
          <a:xfrm>
            <a:off x="2619106" y="1960997"/>
            <a:ext cx="27062" cy="0"/>
          </a:xfrm>
          <a:prstGeom prst="line">
            <a:avLst/>
          </a:prstGeom>
          <a:noFill/>
          <a:ln w="16510">
            <a:solidFill>
              <a:srgbClr val="2C3E5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240246" y="1833809"/>
            <a:ext cx="0" cy="46004"/>
          </a:xfrm>
          <a:prstGeom prst="line">
            <a:avLst/>
          </a:prstGeom>
          <a:noFill/>
          <a:ln w="19050">
            <a:solidFill>
              <a:srgbClr val="2C3E5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 rot="10800000">
            <a:off x="2224010" y="1847339"/>
            <a:ext cx="32474" cy="32474"/>
          </a:xfrm>
          <a:prstGeom prst="triangle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861387" y="2088186"/>
            <a:ext cx="757719" cy="154250"/>
          </a:xfrm>
          <a:prstGeom prst="hexagon">
            <a:avLst/>
          </a:prstGeom>
          <a:solidFill>
            <a:srgbClr val="D6EAF8"/>
          </a:solidFill>
          <a:ln w="22860">
            <a:solidFill>
              <a:srgbClr val="1A5276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1861387" y="2088186"/>
            <a:ext cx="757719" cy="154250"/>
          </a:xfrm>
          <a:prstGeom prst="rect">
            <a:avLst/>
          </a:prstGeom>
          <a:noFill/>
          <a:ln/>
        </p:spPr>
        <p:txBody>
          <a:bodyPr wrap="square" lIns="15034" tIns="15034" rIns="15034" bIns="15034" rtlCol="0" anchor="ctr"/>
          <a:lstStyle/>
          <a:p>
            <a:pPr algn="ctr"/>
            <a:r>
              <a:rPr lang="en-US" sz="251" b="1" dirty="0">
                <a:solidFill>
                  <a:srgbClr val="0D2B4E"/>
                </a:solidFill>
              </a:rPr>
              <a:t>Продукты</a:t>
            </a:r>
            <a:endParaRPr lang="en-US" sz="251" dirty="0"/>
          </a:p>
          <a:p>
            <a:pPr algn="ctr"/>
            <a:r>
              <a:rPr lang="en-US" sz="251" b="1" dirty="0">
                <a:solidFill>
                  <a:srgbClr val="0D2B4E"/>
                </a:solidFill>
              </a:rPr>
              <a:t>куплены и доставлены</a:t>
            </a:r>
            <a:endParaRPr lang="en-US" sz="251" dirty="0"/>
          </a:p>
        </p:txBody>
      </p:sp>
      <p:sp>
        <p:nvSpPr>
          <p:cNvPr id="72" name="Shape 70"/>
          <p:cNvSpPr/>
          <p:nvPr/>
        </p:nvSpPr>
        <p:spPr>
          <a:xfrm>
            <a:off x="2240246" y="2042181"/>
            <a:ext cx="0" cy="46004"/>
          </a:xfrm>
          <a:prstGeom prst="line">
            <a:avLst/>
          </a:prstGeom>
          <a:noFill/>
          <a:ln w="19050">
            <a:solidFill>
              <a:srgbClr val="2C3E5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 rot="10800000">
            <a:off x="2224010" y="2055712"/>
            <a:ext cx="32474" cy="32474"/>
          </a:xfrm>
          <a:prstGeom prst="triangle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387813" y="1425182"/>
            <a:ext cx="419451" cy="1001262"/>
          </a:xfrm>
          <a:prstGeom prst="line">
            <a:avLst/>
          </a:prstGeom>
          <a:noFill/>
          <a:ln w="19050">
            <a:solidFill>
              <a:srgbClr val="2C3E50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 flipH="1">
            <a:off x="1807264" y="2242435"/>
            <a:ext cx="432982" cy="192136"/>
          </a:xfrm>
          <a:prstGeom prst="line">
            <a:avLst/>
          </a:prstGeom>
          <a:noFill/>
          <a:ln w="19050">
            <a:solidFill>
              <a:srgbClr val="2C3E50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 flipH="1">
            <a:off x="1807264" y="2434572"/>
            <a:ext cx="0" cy="192126"/>
          </a:xfrm>
          <a:prstGeom prst="line">
            <a:avLst/>
          </a:prstGeom>
          <a:noFill/>
          <a:ln w="19050">
            <a:solidFill>
              <a:srgbClr val="2C3E50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1807263" y="2621295"/>
            <a:ext cx="0" cy="46004"/>
          </a:xfrm>
          <a:prstGeom prst="line">
            <a:avLst/>
          </a:prstGeom>
          <a:noFill/>
          <a:ln w="19050">
            <a:solidFill>
              <a:srgbClr val="2C3E50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 rot="10800000">
            <a:off x="1791027" y="2634826"/>
            <a:ext cx="32474" cy="32474"/>
          </a:xfrm>
          <a:prstGeom prst="triangle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1374281" y="2667299"/>
            <a:ext cx="865965" cy="162369"/>
          </a:xfrm>
          <a:prstGeom prst="roundRect">
            <a:avLst>
              <a:gd name="adj" fmla="val 13333"/>
            </a:avLst>
          </a:prstGeom>
          <a:solidFill>
            <a:srgbClr val="D5F5E3"/>
          </a:solidFill>
          <a:ln w="22860">
            <a:solidFill>
              <a:srgbClr val="1E8449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1374281" y="2667299"/>
            <a:ext cx="865965" cy="162369"/>
          </a:xfrm>
          <a:prstGeom prst="rect">
            <a:avLst/>
          </a:prstGeom>
          <a:noFill/>
          <a:ln/>
        </p:spPr>
        <p:txBody>
          <a:bodyPr wrap="square" lIns="15034" tIns="15034" rIns="15034" bIns="15034" rtlCol="0" anchor="ctr"/>
          <a:lstStyle/>
          <a:p>
            <a:pPr algn="ctr"/>
            <a:r>
              <a:rPr lang="en-US" sz="251" b="1" dirty="0">
                <a:solidFill>
                  <a:srgbClr val="0B3D20"/>
                </a:solidFill>
              </a:rPr>
              <a:t>2.1 Замочить хлеб</a:t>
            </a:r>
            <a:endParaRPr lang="en-US" sz="251" dirty="0"/>
          </a:p>
          <a:p>
            <a:pPr algn="ctr"/>
            <a:r>
              <a:rPr lang="en-US" sz="251" b="1" dirty="0">
                <a:solidFill>
                  <a:srgbClr val="0B3D20"/>
                </a:solidFill>
              </a:rPr>
              <a:t>в сливках (~20 мин)</a:t>
            </a:r>
            <a:endParaRPr lang="en-US" sz="251" dirty="0"/>
          </a:p>
        </p:txBody>
      </p:sp>
      <p:sp>
        <p:nvSpPr>
          <p:cNvPr id="90" name="Shape 88"/>
          <p:cNvSpPr/>
          <p:nvPr/>
        </p:nvSpPr>
        <p:spPr>
          <a:xfrm>
            <a:off x="2740882" y="2680830"/>
            <a:ext cx="438395" cy="124482"/>
          </a:xfrm>
          <a:prstGeom prst="rect">
            <a:avLst/>
          </a:prstGeom>
          <a:solidFill>
            <a:srgbClr val="F9F2FF"/>
          </a:solidFill>
          <a:ln w="15240">
            <a:solidFill>
              <a:srgbClr val="7D3C98"/>
            </a:solidFill>
            <a:prstDash val="sysDash"/>
          </a:ln>
        </p:spPr>
      </p:sp>
      <p:sp>
        <p:nvSpPr>
          <p:cNvPr id="91" name="Text 89"/>
          <p:cNvSpPr/>
          <p:nvPr/>
        </p:nvSpPr>
        <p:spPr>
          <a:xfrm>
            <a:off x="2740882" y="2680830"/>
            <a:ext cx="438395" cy="124482"/>
          </a:xfrm>
          <a:prstGeom prst="rect">
            <a:avLst/>
          </a:prstGeom>
          <a:noFill/>
          <a:ln/>
        </p:spPr>
        <p:txBody>
          <a:bodyPr wrap="square" lIns="11276" tIns="11276" rIns="11276" bIns="11276" rtlCol="0" anchor="ctr"/>
          <a:lstStyle/>
          <a:p>
            <a:pPr algn="ctr"/>
            <a:r>
              <a:rPr lang="en-US" sz="222" dirty="0">
                <a:solidFill>
                  <a:srgbClr val="4A235A"/>
                </a:solidFill>
              </a:rPr>
              <a:t>Хлеб,</a:t>
            </a:r>
            <a:endParaRPr lang="en-US" sz="222" dirty="0"/>
          </a:p>
          <a:p>
            <a:pPr algn="ctr"/>
            <a:r>
              <a:rPr lang="en-US" sz="222" dirty="0">
                <a:solidFill>
                  <a:srgbClr val="4A235A"/>
                </a:solidFill>
              </a:rPr>
              <a:t>сливки</a:t>
            </a:r>
            <a:endParaRPr lang="en-US" sz="222" dirty="0"/>
          </a:p>
        </p:txBody>
      </p:sp>
      <p:sp>
        <p:nvSpPr>
          <p:cNvPr id="92" name="Shape 90"/>
          <p:cNvSpPr/>
          <p:nvPr/>
        </p:nvSpPr>
        <p:spPr>
          <a:xfrm>
            <a:off x="2118470" y="7264260"/>
            <a:ext cx="500636" cy="0"/>
          </a:xfrm>
          <a:prstGeom prst="line">
            <a:avLst/>
          </a:prstGeom>
          <a:noFill/>
          <a:ln w="16510">
            <a:solidFill>
              <a:srgbClr val="2C3E50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685487" y="7345444"/>
            <a:ext cx="0" cy="46004"/>
          </a:xfrm>
          <a:prstGeom prst="line">
            <a:avLst/>
          </a:prstGeom>
          <a:noFill/>
          <a:ln w="19050">
            <a:solidFill>
              <a:srgbClr val="2C3E50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 rot="10800000">
            <a:off x="1669251" y="7358975"/>
            <a:ext cx="32474" cy="32474"/>
          </a:xfrm>
          <a:prstGeom prst="triangle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1376988" y="2908240"/>
            <a:ext cx="865965" cy="140719"/>
          </a:xfrm>
          <a:prstGeom prst="hexagon">
            <a:avLst/>
          </a:prstGeom>
          <a:solidFill>
            <a:srgbClr val="D6EAF8"/>
          </a:solidFill>
          <a:ln w="22860">
            <a:solidFill>
              <a:srgbClr val="1A5276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1376988" y="2908240"/>
            <a:ext cx="865965" cy="140719"/>
          </a:xfrm>
          <a:prstGeom prst="rect">
            <a:avLst/>
          </a:prstGeom>
          <a:noFill/>
          <a:ln/>
        </p:spPr>
        <p:txBody>
          <a:bodyPr wrap="square" lIns="15034" tIns="15034" rIns="15034" bIns="15034" rtlCol="0" anchor="ctr"/>
          <a:lstStyle/>
          <a:p>
            <a:pPr algn="ctr"/>
            <a:r>
              <a:rPr lang="en-US" sz="251" b="1" dirty="0">
                <a:solidFill>
                  <a:srgbClr val="0D2B4E"/>
                </a:solidFill>
              </a:rPr>
              <a:t>Хлеб размок,</a:t>
            </a:r>
            <a:endParaRPr lang="en-US" sz="251" dirty="0"/>
          </a:p>
          <a:p>
            <a:pPr algn="ctr"/>
            <a:r>
              <a:rPr lang="en-US" sz="251" b="1" dirty="0">
                <a:solidFill>
                  <a:srgbClr val="0D2B4E"/>
                </a:solidFill>
              </a:rPr>
              <a:t>готов к фаршу</a:t>
            </a:r>
            <a:endParaRPr lang="en-US" sz="251" dirty="0"/>
          </a:p>
        </p:txBody>
      </p:sp>
      <p:sp>
        <p:nvSpPr>
          <p:cNvPr id="97" name="Shape 95"/>
          <p:cNvSpPr/>
          <p:nvPr/>
        </p:nvSpPr>
        <p:spPr>
          <a:xfrm>
            <a:off x="1809970" y="3048960"/>
            <a:ext cx="0" cy="46004"/>
          </a:xfrm>
          <a:prstGeom prst="line">
            <a:avLst/>
          </a:prstGeom>
          <a:noFill/>
          <a:ln w="19050">
            <a:solidFill>
              <a:srgbClr val="2C3E50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 rot="10800000">
            <a:off x="1793733" y="3062490"/>
            <a:ext cx="32474" cy="32474"/>
          </a:xfrm>
          <a:prstGeom prst="triangle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1376988" y="3094963"/>
            <a:ext cx="865965" cy="162369"/>
          </a:xfrm>
          <a:prstGeom prst="roundRect">
            <a:avLst>
              <a:gd name="adj" fmla="val 13333"/>
            </a:avLst>
          </a:prstGeom>
          <a:solidFill>
            <a:srgbClr val="D5F5E3"/>
          </a:solidFill>
          <a:ln w="22860">
            <a:solidFill>
              <a:srgbClr val="1E8449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1376988" y="3094963"/>
            <a:ext cx="865965" cy="162369"/>
          </a:xfrm>
          <a:prstGeom prst="rect">
            <a:avLst/>
          </a:prstGeom>
          <a:noFill/>
          <a:ln/>
        </p:spPr>
        <p:txBody>
          <a:bodyPr wrap="square" lIns="15034" tIns="15034" rIns="15034" bIns="15034" rtlCol="0" anchor="ctr"/>
          <a:lstStyle/>
          <a:p>
            <a:pPr algn="ctr"/>
            <a:r>
              <a:rPr lang="en-US" sz="251" b="1" dirty="0">
                <a:solidFill>
                  <a:srgbClr val="0B3D20"/>
                </a:solidFill>
              </a:rPr>
              <a:t>2.2 Измельчить куриное</a:t>
            </a:r>
            <a:endParaRPr lang="en-US" sz="251" dirty="0"/>
          </a:p>
          <a:p>
            <a:pPr algn="ctr"/>
            <a:r>
              <a:rPr lang="en-US" sz="251" b="1" dirty="0">
                <a:solidFill>
                  <a:srgbClr val="0B3D20"/>
                </a:solidFill>
              </a:rPr>
              <a:t>филе через мясорубку</a:t>
            </a:r>
            <a:endParaRPr lang="en-US" sz="251" dirty="0"/>
          </a:p>
        </p:txBody>
      </p:sp>
      <p:sp>
        <p:nvSpPr>
          <p:cNvPr id="101" name="Shape 99"/>
          <p:cNvSpPr/>
          <p:nvPr/>
        </p:nvSpPr>
        <p:spPr>
          <a:xfrm>
            <a:off x="2743588" y="3108494"/>
            <a:ext cx="438395" cy="124482"/>
          </a:xfrm>
          <a:prstGeom prst="rect">
            <a:avLst/>
          </a:prstGeom>
          <a:solidFill>
            <a:srgbClr val="F9F2FF"/>
          </a:solidFill>
          <a:ln w="15240">
            <a:solidFill>
              <a:srgbClr val="7D3C98"/>
            </a:solidFill>
            <a:prstDash val="sysDash"/>
          </a:ln>
        </p:spPr>
      </p:sp>
      <p:sp>
        <p:nvSpPr>
          <p:cNvPr id="102" name="Text 100"/>
          <p:cNvSpPr/>
          <p:nvPr/>
        </p:nvSpPr>
        <p:spPr>
          <a:xfrm>
            <a:off x="2743588" y="3108494"/>
            <a:ext cx="438395" cy="124482"/>
          </a:xfrm>
          <a:prstGeom prst="rect">
            <a:avLst/>
          </a:prstGeom>
          <a:noFill/>
          <a:ln/>
        </p:spPr>
        <p:txBody>
          <a:bodyPr wrap="square" lIns="11276" tIns="11276" rIns="11276" bIns="11276" rtlCol="0" anchor="ctr"/>
          <a:lstStyle/>
          <a:p>
            <a:pPr algn="ctr"/>
            <a:r>
              <a:rPr lang="en-US" sz="222" dirty="0">
                <a:solidFill>
                  <a:srgbClr val="4A235A"/>
                </a:solidFill>
              </a:rPr>
              <a:t>Мясорубка,</a:t>
            </a:r>
            <a:endParaRPr lang="en-US" sz="222" dirty="0"/>
          </a:p>
          <a:p>
            <a:pPr algn="ctr"/>
            <a:r>
              <a:rPr lang="en-US" sz="222" dirty="0">
                <a:solidFill>
                  <a:srgbClr val="4A235A"/>
                </a:solidFill>
              </a:rPr>
              <a:t>филе</a:t>
            </a:r>
            <a:endParaRPr lang="en-US" sz="222" dirty="0"/>
          </a:p>
        </p:txBody>
      </p:sp>
      <p:sp>
        <p:nvSpPr>
          <p:cNvPr id="103" name="Shape 101"/>
          <p:cNvSpPr/>
          <p:nvPr/>
        </p:nvSpPr>
        <p:spPr>
          <a:xfrm>
            <a:off x="2242952" y="3176147"/>
            <a:ext cx="500636" cy="0"/>
          </a:xfrm>
          <a:prstGeom prst="line">
            <a:avLst/>
          </a:prstGeom>
          <a:noFill/>
          <a:ln w="16510">
            <a:solidFill>
              <a:srgbClr val="2C3E50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1809970" y="3257332"/>
            <a:ext cx="0" cy="46004"/>
          </a:xfrm>
          <a:prstGeom prst="line">
            <a:avLst/>
          </a:prstGeom>
          <a:noFill/>
          <a:ln w="19050">
            <a:solidFill>
              <a:srgbClr val="2C3E50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 rot="10800000">
            <a:off x="1793733" y="3270863"/>
            <a:ext cx="32474" cy="32474"/>
          </a:xfrm>
          <a:prstGeom prst="triangle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1376988" y="3303337"/>
            <a:ext cx="865965" cy="140719"/>
          </a:xfrm>
          <a:prstGeom prst="hexagon">
            <a:avLst/>
          </a:prstGeom>
          <a:solidFill>
            <a:srgbClr val="D6EAF8"/>
          </a:solidFill>
          <a:ln w="22860">
            <a:solidFill>
              <a:srgbClr val="1A5276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1376988" y="3303337"/>
            <a:ext cx="865965" cy="140719"/>
          </a:xfrm>
          <a:prstGeom prst="rect">
            <a:avLst/>
          </a:prstGeom>
          <a:noFill/>
          <a:ln/>
        </p:spPr>
        <p:txBody>
          <a:bodyPr wrap="square" lIns="15034" tIns="15034" rIns="15034" bIns="15034" rtlCol="0" anchor="ctr"/>
          <a:lstStyle/>
          <a:p>
            <a:pPr algn="ctr"/>
            <a:r>
              <a:rPr lang="en-US" sz="251" b="1" dirty="0">
                <a:solidFill>
                  <a:srgbClr val="0D2B4E"/>
                </a:solidFill>
              </a:rPr>
              <a:t>Филе измельчено,</a:t>
            </a:r>
            <a:endParaRPr lang="en-US" sz="251" dirty="0"/>
          </a:p>
          <a:p>
            <a:pPr algn="ctr"/>
            <a:r>
              <a:rPr lang="en-US" sz="251" b="1" dirty="0">
                <a:solidFill>
                  <a:srgbClr val="0D2B4E"/>
                </a:solidFill>
              </a:rPr>
              <a:t>готово к смешиванию</a:t>
            </a:r>
            <a:endParaRPr lang="en-US" sz="251" dirty="0"/>
          </a:p>
        </p:txBody>
      </p:sp>
      <p:sp>
        <p:nvSpPr>
          <p:cNvPr id="108" name="Shape 106"/>
          <p:cNvSpPr/>
          <p:nvPr/>
        </p:nvSpPr>
        <p:spPr>
          <a:xfrm>
            <a:off x="1809970" y="3444056"/>
            <a:ext cx="0" cy="46004"/>
          </a:xfrm>
          <a:prstGeom prst="line">
            <a:avLst/>
          </a:prstGeom>
          <a:noFill/>
          <a:ln w="19050">
            <a:solidFill>
              <a:srgbClr val="2C3E50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 rot="10800000">
            <a:off x="1793733" y="3457586"/>
            <a:ext cx="32474" cy="32474"/>
          </a:xfrm>
          <a:prstGeom prst="triangle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1376988" y="3490060"/>
            <a:ext cx="865965" cy="162369"/>
          </a:xfrm>
          <a:prstGeom prst="roundRect">
            <a:avLst>
              <a:gd name="adj" fmla="val 13333"/>
            </a:avLst>
          </a:prstGeom>
          <a:solidFill>
            <a:srgbClr val="D5F5E3"/>
          </a:solidFill>
          <a:ln w="22860">
            <a:solidFill>
              <a:srgbClr val="1E8449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1376988" y="3490060"/>
            <a:ext cx="865965" cy="162369"/>
          </a:xfrm>
          <a:prstGeom prst="rect">
            <a:avLst/>
          </a:prstGeom>
          <a:noFill/>
          <a:ln/>
        </p:spPr>
        <p:txBody>
          <a:bodyPr wrap="square" lIns="15034" tIns="15034" rIns="15034" bIns="15034" rtlCol="0" anchor="ctr"/>
          <a:lstStyle/>
          <a:p>
            <a:pPr algn="ctr"/>
            <a:r>
              <a:rPr lang="en-US" sz="251" b="1" dirty="0">
                <a:solidFill>
                  <a:srgbClr val="0B3D20"/>
                </a:solidFill>
              </a:rPr>
              <a:t>2.3 Смешать фарш,</a:t>
            </a:r>
            <a:endParaRPr lang="en-US" sz="251" dirty="0"/>
          </a:p>
          <a:p>
            <a:pPr algn="ctr"/>
            <a:r>
              <a:rPr lang="en-US" sz="251" b="1" dirty="0">
                <a:solidFill>
                  <a:srgbClr val="0B3D20"/>
                </a:solidFill>
              </a:rPr>
              <a:t>сформировать котлеты</a:t>
            </a:r>
            <a:endParaRPr lang="en-US" sz="251" dirty="0"/>
          </a:p>
        </p:txBody>
      </p:sp>
      <p:sp>
        <p:nvSpPr>
          <p:cNvPr id="112" name="Shape 110"/>
          <p:cNvSpPr/>
          <p:nvPr/>
        </p:nvSpPr>
        <p:spPr>
          <a:xfrm>
            <a:off x="2743588" y="3503591"/>
            <a:ext cx="438395" cy="124482"/>
          </a:xfrm>
          <a:prstGeom prst="rect">
            <a:avLst/>
          </a:prstGeom>
          <a:solidFill>
            <a:srgbClr val="F9F2FF"/>
          </a:solidFill>
          <a:ln w="15240">
            <a:solidFill>
              <a:srgbClr val="7D3C98"/>
            </a:solidFill>
            <a:prstDash val="sysDash"/>
          </a:ln>
        </p:spPr>
      </p:sp>
      <p:sp>
        <p:nvSpPr>
          <p:cNvPr id="113" name="Text 111"/>
          <p:cNvSpPr/>
          <p:nvPr/>
        </p:nvSpPr>
        <p:spPr>
          <a:xfrm>
            <a:off x="2743588" y="3503591"/>
            <a:ext cx="438395" cy="124482"/>
          </a:xfrm>
          <a:prstGeom prst="rect">
            <a:avLst/>
          </a:prstGeom>
          <a:noFill/>
          <a:ln/>
        </p:spPr>
        <p:txBody>
          <a:bodyPr wrap="square" lIns="11276" tIns="11276" rIns="11276" bIns="11276" rtlCol="0" anchor="ctr"/>
          <a:lstStyle/>
          <a:p>
            <a:pPr algn="ctr"/>
            <a:r>
              <a:rPr lang="en-US" sz="222" dirty="0">
                <a:solidFill>
                  <a:srgbClr val="4A235A"/>
                </a:solidFill>
              </a:rPr>
              <a:t>Миска,</a:t>
            </a:r>
            <a:endParaRPr lang="en-US" sz="222" dirty="0"/>
          </a:p>
          <a:p>
            <a:pPr algn="ctr"/>
            <a:r>
              <a:rPr lang="en-US" sz="222" dirty="0">
                <a:solidFill>
                  <a:srgbClr val="4A235A"/>
                </a:solidFill>
              </a:rPr>
              <a:t>руки</a:t>
            </a:r>
            <a:endParaRPr lang="en-US" sz="222" dirty="0"/>
          </a:p>
        </p:txBody>
      </p:sp>
      <p:sp>
        <p:nvSpPr>
          <p:cNvPr id="114" name="Shape 112"/>
          <p:cNvSpPr/>
          <p:nvPr/>
        </p:nvSpPr>
        <p:spPr>
          <a:xfrm>
            <a:off x="2242952" y="3571244"/>
            <a:ext cx="500636" cy="0"/>
          </a:xfrm>
          <a:prstGeom prst="line">
            <a:avLst/>
          </a:prstGeom>
          <a:noFill/>
          <a:ln w="16510">
            <a:solidFill>
              <a:srgbClr val="2C3E50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1809970" y="3652429"/>
            <a:ext cx="0" cy="46004"/>
          </a:xfrm>
          <a:prstGeom prst="line">
            <a:avLst/>
          </a:prstGeom>
          <a:noFill/>
          <a:ln w="19050">
            <a:solidFill>
              <a:srgbClr val="2C3E50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 rot="10800000">
            <a:off x="1793733" y="3665959"/>
            <a:ext cx="32474" cy="32474"/>
          </a:xfrm>
          <a:prstGeom prst="triangle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1376988" y="3698433"/>
            <a:ext cx="865965" cy="140719"/>
          </a:xfrm>
          <a:prstGeom prst="hexagon">
            <a:avLst/>
          </a:prstGeom>
          <a:solidFill>
            <a:srgbClr val="D6EAF8"/>
          </a:solidFill>
          <a:ln w="22860">
            <a:solidFill>
              <a:srgbClr val="1A5276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1376988" y="3698433"/>
            <a:ext cx="865965" cy="140719"/>
          </a:xfrm>
          <a:prstGeom prst="rect">
            <a:avLst/>
          </a:prstGeom>
          <a:noFill/>
          <a:ln/>
        </p:spPr>
        <p:txBody>
          <a:bodyPr wrap="square" lIns="15034" tIns="15034" rIns="15034" bIns="15034" rtlCol="0" anchor="ctr"/>
          <a:lstStyle/>
          <a:p>
            <a:pPr algn="ctr"/>
            <a:r>
              <a:rPr lang="en-US" sz="251" b="1" dirty="0">
                <a:solidFill>
                  <a:srgbClr val="0D2B4E"/>
                </a:solidFill>
              </a:rPr>
              <a:t>Котлеты</a:t>
            </a:r>
            <a:endParaRPr lang="en-US" sz="251" dirty="0"/>
          </a:p>
          <a:p>
            <a:pPr algn="ctr"/>
            <a:r>
              <a:rPr lang="en-US" sz="251" b="1" dirty="0">
                <a:solidFill>
                  <a:srgbClr val="0D2B4E"/>
                </a:solidFill>
              </a:rPr>
              <a:t>сформированы</a:t>
            </a:r>
            <a:endParaRPr lang="en-US" sz="251" dirty="0"/>
          </a:p>
        </p:txBody>
      </p:sp>
      <p:sp>
        <p:nvSpPr>
          <p:cNvPr id="119" name="Shape 117"/>
          <p:cNvSpPr/>
          <p:nvPr/>
        </p:nvSpPr>
        <p:spPr>
          <a:xfrm>
            <a:off x="1809970" y="3839152"/>
            <a:ext cx="0" cy="46004"/>
          </a:xfrm>
          <a:prstGeom prst="line">
            <a:avLst/>
          </a:prstGeom>
          <a:noFill/>
          <a:ln w="19050">
            <a:solidFill>
              <a:srgbClr val="2C3E50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 rot="10800000">
            <a:off x="1793733" y="3852683"/>
            <a:ext cx="32474" cy="32474"/>
          </a:xfrm>
          <a:prstGeom prst="triangle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1376988" y="3885156"/>
            <a:ext cx="865965" cy="162369"/>
          </a:xfrm>
          <a:prstGeom prst="roundRect">
            <a:avLst>
              <a:gd name="adj" fmla="val 13333"/>
            </a:avLst>
          </a:prstGeom>
          <a:solidFill>
            <a:srgbClr val="FDEBD0"/>
          </a:solidFill>
          <a:ln w="27940">
            <a:solidFill>
              <a:srgbClr val="CA6F1E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1376988" y="3885156"/>
            <a:ext cx="865965" cy="162369"/>
          </a:xfrm>
          <a:prstGeom prst="rect">
            <a:avLst/>
          </a:prstGeom>
          <a:noFill/>
          <a:ln/>
        </p:spPr>
        <p:txBody>
          <a:bodyPr wrap="square" lIns="15034" tIns="15034" rIns="15034" bIns="15034" rtlCol="0" anchor="ctr"/>
          <a:lstStyle/>
          <a:p>
            <a:pPr algn="ctr"/>
            <a:r>
              <a:rPr lang="en-US" sz="251" b="1" dirty="0">
                <a:solidFill>
                  <a:srgbClr val="7D3200"/>
                </a:solidFill>
              </a:rPr>
              <a:t>3. Панировка и жарка</a:t>
            </a:r>
            <a:endParaRPr lang="en-US" sz="251" dirty="0"/>
          </a:p>
          <a:p>
            <a:pPr algn="ctr"/>
            <a:r>
              <a:rPr lang="en-US" sz="251" b="1" dirty="0">
                <a:solidFill>
                  <a:srgbClr val="7D3200"/>
                </a:solidFill>
              </a:rPr>
              <a:t>→ слайд 3 ↓</a:t>
            </a:r>
            <a:endParaRPr lang="en-US" sz="251" dirty="0"/>
          </a:p>
        </p:txBody>
      </p:sp>
      <p:sp>
        <p:nvSpPr>
          <p:cNvPr id="123" name="Shape 121"/>
          <p:cNvSpPr/>
          <p:nvPr/>
        </p:nvSpPr>
        <p:spPr>
          <a:xfrm>
            <a:off x="2743588" y="3898687"/>
            <a:ext cx="438395" cy="124482"/>
          </a:xfrm>
          <a:prstGeom prst="rect">
            <a:avLst/>
          </a:prstGeom>
          <a:solidFill>
            <a:srgbClr val="F9F2FF"/>
          </a:solidFill>
          <a:ln w="15240">
            <a:solidFill>
              <a:srgbClr val="7D3C98"/>
            </a:solidFill>
            <a:prstDash val="sysDash"/>
          </a:ln>
        </p:spPr>
      </p:sp>
      <p:sp>
        <p:nvSpPr>
          <p:cNvPr id="124" name="Text 122"/>
          <p:cNvSpPr/>
          <p:nvPr/>
        </p:nvSpPr>
        <p:spPr>
          <a:xfrm>
            <a:off x="2743588" y="3898687"/>
            <a:ext cx="438395" cy="124482"/>
          </a:xfrm>
          <a:prstGeom prst="rect">
            <a:avLst/>
          </a:prstGeom>
          <a:noFill/>
          <a:ln/>
        </p:spPr>
        <p:txBody>
          <a:bodyPr wrap="square" lIns="11276" tIns="11276" rIns="11276" bIns="11276" rtlCol="0" anchor="ctr"/>
          <a:lstStyle/>
          <a:p>
            <a:pPr algn="ctr"/>
            <a:r>
              <a:rPr lang="en-US" sz="222" dirty="0">
                <a:solidFill>
                  <a:srgbClr val="4A235A"/>
                </a:solidFill>
              </a:rPr>
              <a:t>Сухари, масло,</a:t>
            </a:r>
            <a:endParaRPr lang="en-US" sz="222" dirty="0"/>
          </a:p>
          <a:p>
            <a:pPr algn="ctr"/>
            <a:r>
              <a:rPr lang="en-US" sz="222" dirty="0">
                <a:solidFill>
                  <a:srgbClr val="4A235A"/>
                </a:solidFill>
              </a:rPr>
              <a:t>сковорода, духовка</a:t>
            </a:r>
            <a:endParaRPr lang="en-US" sz="222" dirty="0"/>
          </a:p>
        </p:txBody>
      </p:sp>
      <p:sp>
        <p:nvSpPr>
          <p:cNvPr id="125" name="Shape 123"/>
          <p:cNvSpPr/>
          <p:nvPr/>
        </p:nvSpPr>
        <p:spPr>
          <a:xfrm>
            <a:off x="2242952" y="3966340"/>
            <a:ext cx="500636" cy="0"/>
          </a:xfrm>
          <a:prstGeom prst="line">
            <a:avLst/>
          </a:prstGeom>
          <a:noFill/>
          <a:ln w="16510">
            <a:solidFill>
              <a:srgbClr val="2C3E50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1674663" y="4061055"/>
            <a:ext cx="270614" cy="0"/>
          </a:xfrm>
          <a:prstGeom prst="line">
            <a:avLst/>
          </a:prstGeom>
          <a:noFill/>
          <a:ln w="16510">
            <a:solidFill>
              <a:srgbClr val="CA6F1E"/>
            </a:solidFill>
            <a:prstDash val="dash"/>
          </a:ln>
        </p:spPr>
      </p:sp>
      <p:sp>
        <p:nvSpPr>
          <p:cNvPr id="127" name="Text 125"/>
          <p:cNvSpPr/>
          <p:nvPr/>
        </p:nvSpPr>
        <p:spPr>
          <a:xfrm>
            <a:off x="1376988" y="4055643"/>
            <a:ext cx="865965" cy="59535"/>
          </a:xfrm>
          <a:prstGeom prst="rect">
            <a:avLst/>
          </a:prstGeom>
          <a:noFill/>
          <a:ln/>
        </p:spPr>
        <p:txBody>
          <a:bodyPr wrap="square" lIns="3759" tIns="3759" rIns="3759" bIns="3759" rtlCol="0" anchor="ctr"/>
          <a:lstStyle/>
          <a:p>
            <a:r>
              <a:rPr lang="en-US" sz="222" i="1" dirty="0">
                <a:solidFill>
                  <a:srgbClr val="CA6F1E"/>
                </a:solidFill>
              </a:rPr>
              <a:t>↓ Декомпозиция: слайд 3</a:t>
            </a:r>
            <a:endParaRPr lang="en-US" sz="222" dirty="0"/>
          </a:p>
        </p:txBody>
      </p:sp>
      <p:sp>
        <p:nvSpPr>
          <p:cNvPr id="128" name="Shape 126"/>
          <p:cNvSpPr/>
          <p:nvPr/>
        </p:nvSpPr>
        <p:spPr>
          <a:xfrm>
            <a:off x="1809970" y="4123296"/>
            <a:ext cx="0" cy="10825"/>
          </a:xfrm>
          <a:prstGeom prst="line">
            <a:avLst/>
          </a:prstGeom>
          <a:noFill/>
          <a:ln w="19050">
            <a:solidFill>
              <a:srgbClr val="2C3E50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 rot="10800000">
            <a:off x="1793733" y="4101647"/>
            <a:ext cx="32474" cy="32474"/>
          </a:xfrm>
          <a:prstGeom prst="triangle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1376988" y="4134121"/>
            <a:ext cx="865965" cy="140719"/>
          </a:xfrm>
          <a:prstGeom prst="hexagon">
            <a:avLst/>
          </a:prstGeom>
          <a:solidFill>
            <a:srgbClr val="D6EAF8"/>
          </a:solidFill>
          <a:ln w="22860">
            <a:solidFill>
              <a:srgbClr val="1A5276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1376988" y="4134121"/>
            <a:ext cx="865965" cy="140719"/>
          </a:xfrm>
          <a:prstGeom prst="rect">
            <a:avLst/>
          </a:prstGeom>
          <a:noFill/>
          <a:ln/>
        </p:spPr>
        <p:txBody>
          <a:bodyPr wrap="square" lIns="15034" tIns="15034" rIns="15034" bIns="15034" rtlCol="0" anchor="ctr"/>
          <a:lstStyle/>
          <a:p>
            <a:pPr algn="ctr"/>
            <a:r>
              <a:rPr lang="en-US" sz="251" b="1" dirty="0">
                <a:solidFill>
                  <a:srgbClr val="0D2B4E"/>
                </a:solidFill>
              </a:rPr>
              <a:t>Котлеты готовы,</a:t>
            </a:r>
            <a:endParaRPr lang="en-US" sz="251" dirty="0"/>
          </a:p>
          <a:p>
            <a:pPr algn="ctr"/>
            <a:r>
              <a:rPr lang="en-US" sz="251" b="1" dirty="0">
                <a:solidFill>
                  <a:srgbClr val="0D2B4E"/>
                </a:solidFill>
              </a:rPr>
              <a:t>золотистая корочка</a:t>
            </a:r>
            <a:endParaRPr lang="en-US" sz="251" dirty="0"/>
          </a:p>
        </p:txBody>
      </p:sp>
      <p:sp>
        <p:nvSpPr>
          <p:cNvPr id="132" name="Shape 130"/>
          <p:cNvSpPr/>
          <p:nvPr/>
        </p:nvSpPr>
        <p:spPr>
          <a:xfrm>
            <a:off x="1809970" y="4274841"/>
            <a:ext cx="0" cy="46004"/>
          </a:xfrm>
          <a:prstGeom prst="line">
            <a:avLst/>
          </a:prstGeom>
          <a:noFill/>
          <a:ln w="19050">
            <a:solidFill>
              <a:srgbClr val="2C3E50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 rot="10800000">
            <a:off x="1793733" y="4288371"/>
            <a:ext cx="32474" cy="32474"/>
          </a:xfrm>
          <a:prstGeom prst="triangle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1376988" y="4320845"/>
            <a:ext cx="865965" cy="162369"/>
          </a:xfrm>
          <a:prstGeom prst="roundRect">
            <a:avLst>
              <a:gd name="adj" fmla="val 13333"/>
            </a:avLst>
          </a:prstGeom>
          <a:solidFill>
            <a:srgbClr val="D5F5E3"/>
          </a:solidFill>
          <a:ln w="22860">
            <a:solidFill>
              <a:srgbClr val="1E8449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1376988" y="4320845"/>
            <a:ext cx="865965" cy="162369"/>
          </a:xfrm>
          <a:prstGeom prst="rect">
            <a:avLst/>
          </a:prstGeom>
          <a:noFill/>
          <a:ln/>
        </p:spPr>
        <p:txBody>
          <a:bodyPr wrap="square" lIns="15034" tIns="15034" rIns="15034" bIns="15034" rtlCol="0" anchor="ctr"/>
          <a:lstStyle/>
          <a:p>
            <a:pPr algn="ctr"/>
            <a:r>
              <a:rPr lang="en-US" sz="251" b="1" dirty="0">
                <a:solidFill>
                  <a:srgbClr val="0B3D20"/>
                </a:solidFill>
              </a:rPr>
              <a:t>4. Выложить котлеты</a:t>
            </a:r>
            <a:endParaRPr lang="en-US" sz="251" dirty="0"/>
          </a:p>
          <a:p>
            <a:pPr algn="ctr"/>
            <a:r>
              <a:rPr lang="en-US" sz="251" b="1" dirty="0">
                <a:solidFill>
                  <a:srgbClr val="0B3D20"/>
                </a:solidFill>
              </a:rPr>
              <a:t>на тарелку с гарниром</a:t>
            </a:r>
            <a:endParaRPr lang="en-US" sz="251" dirty="0"/>
          </a:p>
        </p:txBody>
      </p:sp>
      <p:sp>
        <p:nvSpPr>
          <p:cNvPr id="136" name="Shape 134"/>
          <p:cNvSpPr/>
          <p:nvPr/>
        </p:nvSpPr>
        <p:spPr>
          <a:xfrm>
            <a:off x="2743588" y="4334375"/>
            <a:ext cx="438395" cy="124482"/>
          </a:xfrm>
          <a:prstGeom prst="rect">
            <a:avLst/>
          </a:prstGeom>
          <a:solidFill>
            <a:srgbClr val="F9F2FF"/>
          </a:solidFill>
          <a:ln w="15240">
            <a:solidFill>
              <a:srgbClr val="7D3C98"/>
            </a:solidFill>
            <a:prstDash val="sysDash"/>
          </a:ln>
        </p:spPr>
      </p:sp>
      <p:sp>
        <p:nvSpPr>
          <p:cNvPr id="137" name="Text 135"/>
          <p:cNvSpPr/>
          <p:nvPr/>
        </p:nvSpPr>
        <p:spPr>
          <a:xfrm>
            <a:off x="2743588" y="4334375"/>
            <a:ext cx="438395" cy="124482"/>
          </a:xfrm>
          <a:prstGeom prst="rect">
            <a:avLst/>
          </a:prstGeom>
          <a:noFill/>
          <a:ln/>
        </p:spPr>
        <p:txBody>
          <a:bodyPr wrap="square" lIns="11276" tIns="11276" rIns="11276" bIns="11276" rtlCol="0" anchor="ctr"/>
          <a:lstStyle/>
          <a:p>
            <a:pPr algn="ctr"/>
            <a:r>
              <a:rPr lang="en-US" sz="222" dirty="0">
                <a:solidFill>
                  <a:srgbClr val="4A235A"/>
                </a:solidFill>
              </a:rPr>
              <a:t>Тарелка,</a:t>
            </a:r>
            <a:endParaRPr lang="en-US" sz="222" dirty="0"/>
          </a:p>
          <a:p>
            <a:pPr algn="ctr"/>
            <a:r>
              <a:rPr lang="en-US" sz="222" dirty="0">
                <a:solidFill>
                  <a:srgbClr val="4A235A"/>
                </a:solidFill>
              </a:rPr>
              <a:t>гарнир</a:t>
            </a:r>
            <a:endParaRPr lang="en-US" sz="222" dirty="0"/>
          </a:p>
        </p:txBody>
      </p:sp>
      <p:sp>
        <p:nvSpPr>
          <p:cNvPr id="138" name="Shape 136"/>
          <p:cNvSpPr/>
          <p:nvPr/>
        </p:nvSpPr>
        <p:spPr>
          <a:xfrm>
            <a:off x="2242952" y="4402029"/>
            <a:ext cx="500636" cy="0"/>
          </a:xfrm>
          <a:prstGeom prst="line">
            <a:avLst/>
          </a:prstGeom>
          <a:noFill/>
          <a:ln w="16510">
            <a:solidFill>
              <a:srgbClr val="2C3E50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1809970" y="4483214"/>
            <a:ext cx="0" cy="46004"/>
          </a:xfrm>
          <a:prstGeom prst="line">
            <a:avLst/>
          </a:prstGeom>
          <a:noFill/>
          <a:ln w="19050">
            <a:solidFill>
              <a:srgbClr val="2C3E50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 rot="10800000">
            <a:off x="1793733" y="4496744"/>
            <a:ext cx="32474" cy="32474"/>
          </a:xfrm>
          <a:prstGeom prst="triangle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1376988" y="4529218"/>
            <a:ext cx="865965" cy="140719"/>
          </a:xfrm>
          <a:prstGeom prst="hexagon">
            <a:avLst/>
          </a:prstGeom>
          <a:solidFill>
            <a:srgbClr val="D6EAF8"/>
          </a:solidFill>
          <a:ln w="22860">
            <a:solidFill>
              <a:srgbClr val="1A5276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1376988" y="4529218"/>
            <a:ext cx="865965" cy="140719"/>
          </a:xfrm>
          <a:prstGeom prst="rect">
            <a:avLst/>
          </a:prstGeom>
          <a:noFill/>
          <a:ln/>
        </p:spPr>
        <p:txBody>
          <a:bodyPr wrap="square" lIns="15034" tIns="15034" rIns="15034" bIns="15034" rtlCol="0" anchor="ctr"/>
          <a:lstStyle/>
          <a:p>
            <a:pPr algn="ctr"/>
            <a:r>
              <a:rPr lang="en-US" sz="251" b="1" dirty="0">
                <a:solidFill>
                  <a:srgbClr val="0D2B4E"/>
                </a:solidFill>
              </a:rPr>
              <a:t>Пожарские котлеты</a:t>
            </a:r>
            <a:endParaRPr lang="en-US" sz="251" dirty="0"/>
          </a:p>
          <a:p>
            <a:pPr algn="ctr"/>
            <a:r>
              <a:rPr lang="en-US" sz="251" b="1" dirty="0">
                <a:solidFill>
                  <a:srgbClr val="0D2B4E"/>
                </a:solidFill>
              </a:rPr>
              <a:t>поданы на стол</a:t>
            </a:r>
            <a:endParaRPr lang="en-US" sz="25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891690" y="172855"/>
            <a:ext cx="1948420" cy="1488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25" b="1" dirty="0"/>
              <a:t>Декомпозиция: 3. Панировка и </a:t>
            </a:r>
            <a:r>
              <a:rPr lang="en-US" sz="325" b="1" dirty="0" err="1"/>
              <a:t>жарка</a:t>
            </a:r>
            <a:r>
              <a:rPr lang="en-US" sz="325" b="1" dirty="0"/>
              <a:t> </a:t>
            </a:r>
            <a:endParaRPr lang="en-US" sz="325" dirty="0"/>
          </a:p>
        </p:txBody>
      </p:sp>
      <p:sp>
        <p:nvSpPr>
          <p:cNvPr id="6" name="Shape 4"/>
          <p:cNvSpPr/>
          <p:nvPr/>
        </p:nvSpPr>
        <p:spPr>
          <a:xfrm>
            <a:off x="1872746" y="351460"/>
            <a:ext cx="514166" cy="135307"/>
          </a:xfrm>
          <a:prstGeom prst="roundRect">
            <a:avLst>
              <a:gd name="adj" fmla="val 12000"/>
            </a:avLst>
          </a:prstGeom>
          <a:solidFill>
            <a:srgbClr val="FEF9F0"/>
          </a:solidFill>
          <a:ln w="19050">
            <a:solidFill>
              <a:srgbClr val="B83C10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1872746" y="351460"/>
            <a:ext cx="514166" cy="1353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7" i="1" dirty="0">
                <a:solidFill>
                  <a:srgbClr val="7D3200"/>
                </a:solidFill>
              </a:rPr>
              <a:t>→ Из слайда 2</a:t>
            </a:r>
            <a:endParaRPr lang="en-US" sz="207" dirty="0"/>
          </a:p>
          <a:p>
            <a:pPr algn="ctr"/>
            <a:r>
              <a:rPr lang="en-US" sz="207" i="1" dirty="0">
                <a:solidFill>
                  <a:srgbClr val="7D3200"/>
                </a:solidFill>
              </a:rPr>
              <a:t>«Котлеты</a:t>
            </a:r>
            <a:endParaRPr lang="en-US" sz="207" dirty="0"/>
          </a:p>
          <a:p>
            <a:pPr algn="ctr"/>
            <a:r>
              <a:rPr lang="en-US" sz="207" i="1" dirty="0">
                <a:solidFill>
                  <a:srgbClr val="7D3200"/>
                </a:solidFill>
              </a:rPr>
              <a:t>сформированы»</a:t>
            </a:r>
            <a:endParaRPr lang="en-US" sz="207" dirty="0"/>
          </a:p>
        </p:txBody>
      </p:sp>
      <p:sp>
        <p:nvSpPr>
          <p:cNvPr id="8" name="Shape 6"/>
          <p:cNvSpPr/>
          <p:nvPr/>
        </p:nvSpPr>
        <p:spPr>
          <a:xfrm>
            <a:off x="2311141" y="351461"/>
            <a:ext cx="865965" cy="140719"/>
          </a:xfrm>
          <a:prstGeom prst="hexagon">
            <a:avLst/>
          </a:prstGeom>
          <a:solidFill>
            <a:srgbClr val="D6EAF8"/>
          </a:solidFill>
          <a:ln w="22860">
            <a:solidFill>
              <a:srgbClr val="1A527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11141" y="351461"/>
            <a:ext cx="865965" cy="140719"/>
          </a:xfrm>
          <a:prstGeom prst="rect">
            <a:avLst/>
          </a:prstGeom>
          <a:noFill/>
          <a:ln/>
        </p:spPr>
        <p:txBody>
          <a:bodyPr wrap="square" lIns="15034" tIns="15034" rIns="15034" bIns="15034" rtlCol="0" anchor="ctr"/>
          <a:lstStyle/>
          <a:p>
            <a:pPr algn="ctr"/>
            <a:r>
              <a:rPr lang="en-US" sz="251" b="1" dirty="0">
                <a:solidFill>
                  <a:srgbClr val="0D2B4E"/>
                </a:solidFill>
              </a:rPr>
              <a:t>Котлеты сформированы,</a:t>
            </a:r>
            <a:endParaRPr lang="en-US" sz="251" dirty="0"/>
          </a:p>
          <a:p>
            <a:pPr algn="ctr"/>
            <a:r>
              <a:rPr lang="en-US" sz="251" b="1" dirty="0">
                <a:solidFill>
                  <a:srgbClr val="0D2B4E"/>
                </a:solidFill>
              </a:rPr>
              <a:t>готовы к панировке</a:t>
            </a:r>
            <a:endParaRPr lang="en-US" sz="251" dirty="0"/>
          </a:p>
        </p:txBody>
      </p:sp>
      <p:sp>
        <p:nvSpPr>
          <p:cNvPr id="10" name="Shape 8"/>
          <p:cNvSpPr/>
          <p:nvPr/>
        </p:nvSpPr>
        <p:spPr>
          <a:xfrm>
            <a:off x="2311141" y="421819"/>
            <a:ext cx="75772" cy="0"/>
          </a:xfrm>
          <a:prstGeom prst="line">
            <a:avLst/>
          </a:prstGeom>
          <a:noFill/>
          <a:ln w="16510">
            <a:solidFill>
              <a:srgbClr val="2C3E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4123" y="492180"/>
            <a:ext cx="0" cy="46004"/>
          </a:xfrm>
          <a:prstGeom prst="line">
            <a:avLst/>
          </a:prstGeom>
          <a:noFill/>
          <a:ln w="19050">
            <a:solidFill>
              <a:srgbClr val="2C3E5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10800000">
            <a:off x="2727887" y="505710"/>
            <a:ext cx="32474" cy="32474"/>
          </a:xfrm>
          <a:prstGeom prst="triangle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311141" y="538184"/>
            <a:ext cx="865965" cy="162369"/>
          </a:xfrm>
          <a:prstGeom prst="roundRect">
            <a:avLst>
              <a:gd name="adj" fmla="val 13333"/>
            </a:avLst>
          </a:prstGeom>
          <a:solidFill>
            <a:srgbClr val="D5F5E3"/>
          </a:solidFill>
          <a:ln w="22860">
            <a:solidFill>
              <a:srgbClr val="1E844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11141" y="538184"/>
            <a:ext cx="865965" cy="162369"/>
          </a:xfrm>
          <a:prstGeom prst="rect">
            <a:avLst/>
          </a:prstGeom>
          <a:noFill/>
          <a:ln/>
        </p:spPr>
        <p:txBody>
          <a:bodyPr wrap="square" lIns="15034" tIns="15034" rIns="15034" bIns="15034" rtlCol="0" anchor="ctr"/>
          <a:lstStyle/>
          <a:p>
            <a:pPr algn="ctr"/>
            <a:r>
              <a:rPr lang="en-US" sz="251" b="1" dirty="0">
                <a:solidFill>
                  <a:srgbClr val="0B3D20"/>
                </a:solidFill>
              </a:rPr>
              <a:t>Б.1 Обвалять котлеты</a:t>
            </a:r>
            <a:endParaRPr lang="en-US" sz="251" dirty="0"/>
          </a:p>
          <a:p>
            <a:pPr algn="ctr"/>
            <a:r>
              <a:rPr lang="en-US" sz="251" b="1" dirty="0">
                <a:solidFill>
                  <a:srgbClr val="0B3D20"/>
                </a:solidFill>
              </a:rPr>
              <a:t>в панировочных сухарях</a:t>
            </a:r>
            <a:endParaRPr lang="en-US" sz="251" dirty="0"/>
          </a:p>
        </p:txBody>
      </p:sp>
      <p:sp>
        <p:nvSpPr>
          <p:cNvPr id="15" name="Shape 13"/>
          <p:cNvSpPr/>
          <p:nvPr/>
        </p:nvSpPr>
        <p:spPr>
          <a:xfrm>
            <a:off x="3214992" y="551715"/>
            <a:ext cx="405921" cy="124482"/>
          </a:xfrm>
          <a:prstGeom prst="rect">
            <a:avLst/>
          </a:prstGeom>
          <a:solidFill>
            <a:srgbClr val="F9F2FF"/>
          </a:solidFill>
          <a:ln w="15240">
            <a:solidFill>
              <a:srgbClr val="7D3C98"/>
            </a:solidFill>
            <a:prstDash val="sysDash"/>
          </a:ln>
        </p:spPr>
      </p:sp>
      <p:sp>
        <p:nvSpPr>
          <p:cNvPr id="16" name="Text 14"/>
          <p:cNvSpPr/>
          <p:nvPr/>
        </p:nvSpPr>
        <p:spPr>
          <a:xfrm>
            <a:off x="3214992" y="551715"/>
            <a:ext cx="405921" cy="124482"/>
          </a:xfrm>
          <a:prstGeom prst="rect">
            <a:avLst/>
          </a:prstGeom>
          <a:noFill/>
          <a:ln/>
        </p:spPr>
        <p:txBody>
          <a:bodyPr wrap="square" lIns="11276" tIns="11276" rIns="11276" bIns="11276" rtlCol="0" anchor="ctr"/>
          <a:lstStyle/>
          <a:p>
            <a:pPr algn="ctr"/>
            <a:r>
              <a:rPr lang="en-US" sz="222" dirty="0">
                <a:solidFill>
                  <a:srgbClr val="4A235A"/>
                </a:solidFill>
              </a:rPr>
              <a:t>Сухари,</a:t>
            </a:r>
            <a:endParaRPr lang="en-US" sz="222" dirty="0"/>
          </a:p>
          <a:p>
            <a:pPr algn="ctr"/>
            <a:r>
              <a:rPr lang="en-US" sz="222" dirty="0">
                <a:solidFill>
                  <a:srgbClr val="4A235A"/>
                </a:solidFill>
              </a:rPr>
              <a:t>тарелка</a:t>
            </a:r>
            <a:endParaRPr lang="en-US" sz="222" dirty="0"/>
          </a:p>
        </p:txBody>
      </p:sp>
      <p:sp>
        <p:nvSpPr>
          <p:cNvPr id="17" name="Shape 15"/>
          <p:cNvSpPr/>
          <p:nvPr/>
        </p:nvSpPr>
        <p:spPr>
          <a:xfrm>
            <a:off x="3177106" y="619368"/>
            <a:ext cx="37886" cy="0"/>
          </a:xfrm>
          <a:prstGeom prst="line">
            <a:avLst/>
          </a:prstGeom>
          <a:noFill/>
          <a:ln w="16510">
            <a:solidFill>
              <a:srgbClr val="2C3E5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4123" y="700553"/>
            <a:ext cx="0" cy="46004"/>
          </a:xfrm>
          <a:prstGeom prst="line">
            <a:avLst/>
          </a:prstGeom>
          <a:noFill/>
          <a:ln w="19050">
            <a:solidFill>
              <a:srgbClr val="2C3E5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rot="10800000">
            <a:off x="2727887" y="714083"/>
            <a:ext cx="32474" cy="32474"/>
          </a:xfrm>
          <a:prstGeom prst="triangle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311141" y="746557"/>
            <a:ext cx="865965" cy="140719"/>
          </a:xfrm>
          <a:prstGeom prst="hexagon">
            <a:avLst/>
          </a:prstGeom>
          <a:solidFill>
            <a:srgbClr val="D6EAF8"/>
          </a:solidFill>
          <a:ln w="22860">
            <a:solidFill>
              <a:srgbClr val="1A527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311141" y="746557"/>
            <a:ext cx="865965" cy="140719"/>
          </a:xfrm>
          <a:prstGeom prst="rect">
            <a:avLst/>
          </a:prstGeom>
          <a:noFill/>
          <a:ln/>
        </p:spPr>
        <p:txBody>
          <a:bodyPr wrap="square" lIns="15034" tIns="15034" rIns="15034" bIns="15034" rtlCol="0" anchor="ctr"/>
          <a:lstStyle/>
          <a:p>
            <a:pPr algn="ctr"/>
            <a:r>
              <a:rPr lang="en-US" sz="251" b="1" dirty="0">
                <a:solidFill>
                  <a:srgbClr val="0D2B4E"/>
                </a:solidFill>
              </a:rPr>
              <a:t>Котлеты</a:t>
            </a:r>
            <a:endParaRPr lang="en-US" sz="251" dirty="0"/>
          </a:p>
          <a:p>
            <a:pPr algn="ctr"/>
            <a:r>
              <a:rPr lang="en-US" sz="251" b="1" dirty="0">
                <a:solidFill>
                  <a:srgbClr val="0D2B4E"/>
                </a:solidFill>
              </a:rPr>
              <a:t>запанированы</a:t>
            </a:r>
            <a:endParaRPr lang="en-US" sz="251" dirty="0"/>
          </a:p>
        </p:txBody>
      </p:sp>
      <p:sp>
        <p:nvSpPr>
          <p:cNvPr id="22" name="Shape 20"/>
          <p:cNvSpPr/>
          <p:nvPr/>
        </p:nvSpPr>
        <p:spPr>
          <a:xfrm>
            <a:off x="2744123" y="887277"/>
            <a:ext cx="0" cy="46004"/>
          </a:xfrm>
          <a:prstGeom prst="line">
            <a:avLst/>
          </a:prstGeom>
          <a:noFill/>
          <a:ln w="19050">
            <a:solidFill>
              <a:srgbClr val="2C3E5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rot="10800000">
            <a:off x="2727887" y="900806"/>
            <a:ext cx="32474" cy="32474"/>
          </a:xfrm>
          <a:prstGeom prst="triangle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311141" y="933281"/>
            <a:ext cx="865965" cy="189430"/>
          </a:xfrm>
          <a:prstGeom prst="roundRect">
            <a:avLst>
              <a:gd name="adj" fmla="val 11429"/>
            </a:avLst>
          </a:prstGeom>
          <a:solidFill>
            <a:srgbClr val="D5F5E3"/>
          </a:solidFill>
          <a:ln w="22860">
            <a:solidFill>
              <a:srgbClr val="1E844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311141" y="933281"/>
            <a:ext cx="865965" cy="189430"/>
          </a:xfrm>
          <a:prstGeom prst="rect">
            <a:avLst/>
          </a:prstGeom>
          <a:noFill/>
          <a:ln/>
        </p:spPr>
        <p:txBody>
          <a:bodyPr wrap="square" lIns="15034" tIns="15034" rIns="15034" bIns="15034" rtlCol="0" anchor="ctr"/>
          <a:lstStyle/>
          <a:p>
            <a:pPr algn="ctr"/>
            <a:r>
              <a:rPr lang="en-US" sz="251" b="1" dirty="0">
                <a:solidFill>
                  <a:srgbClr val="0B3D20"/>
                </a:solidFill>
              </a:rPr>
              <a:t>Б.2 Обжарить на сковороде</a:t>
            </a:r>
            <a:endParaRPr lang="en-US" sz="251" dirty="0"/>
          </a:p>
          <a:p>
            <a:pPr algn="ctr"/>
            <a:r>
              <a:rPr lang="en-US" sz="251" b="1" dirty="0">
                <a:solidFill>
                  <a:srgbClr val="0B3D20"/>
                </a:solidFill>
              </a:rPr>
              <a:t>до золотистой корочки (~5 мин)</a:t>
            </a:r>
            <a:endParaRPr lang="en-US" sz="251" dirty="0"/>
          </a:p>
        </p:txBody>
      </p:sp>
      <p:sp>
        <p:nvSpPr>
          <p:cNvPr id="26" name="Shape 24"/>
          <p:cNvSpPr/>
          <p:nvPr/>
        </p:nvSpPr>
        <p:spPr>
          <a:xfrm>
            <a:off x="3214992" y="946811"/>
            <a:ext cx="405921" cy="124482"/>
          </a:xfrm>
          <a:prstGeom prst="rect">
            <a:avLst/>
          </a:prstGeom>
          <a:solidFill>
            <a:srgbClr val="F9F2FF"/>
          </a:solidFill>
          <a:ln w="15240">
            <a:solidFill>
              <a:srgbClr val="7D3C98"/>
            </a:solidFill>
            <a:prstDash val="sysDash"/>
          </a:ln>
        </p:spPr>
      </p:sp>
      <p:sp>
        <p:nvSpPr>
          <p:cNvPr id="27" name="Text 25"/>
          <p:cNvSpPr/>
          <p:nvPr/>
        </p:nvSpPr>
        <p:spPr>
          <a:xfrm>
            <a:off x="3214992" y="946811"/>
            <a:ext cx="405921" cy="124482"/>
          </a:xfrm>
          <a:prstGeom prst="rect">
            <a:avLst/>
          </a:prstGeom>
          <a:noFill/>
          <a:ln/>
        </p:spPr>
        <p:txBody>
          <a:bodyPr wrap="square" lIns="11276" tIns="11276" rIns="11276" bIns="11276" rtlCol="0" anchor="ctr"/>
          <a:lstStyle/>
          <a:p>
            <a:pPr algn="ctr"/>
            <a:r>
              <a:rPr lang="en-US" sz="222" dirty="0">
                <a:solidFill>
                  <a:srgbClr val="4A235A"/>
                </a:solidFill>
              </a:rPr>
              <a:t>Сковорода,</a:t>
            </a:r>
            <a:endParaRPr lang="en-US" sz="222" dirty="0"/>
          </a:p>
          <a:p>
            <a:pPr algn="ctr"/>
            <a:r>
              <a:rPr lang="en-US" sz="222" dirty="0">
                <a:solidFill>
                  <a:srgbClr val="4A235A"/>
                </a:solidFill>
              </a:rPr>
              <a:t>масло, плита</a:t>
            </a:r>
            <a:endParaRPr lang="en-US" sz="222" dirty="0"/>
          </a:p>
        </p:txBody>
      </p:sp>
      <p:sp>
        <p:nvSpPr>
          <p:cNvPr id="28" name="Shape 26"/>
          <p:cNvSpPr/>
          <p:nvPr/>
        </p:nvSpPr>
        <p:spPr>
          <a:xfrm>
            <a:off x="3177106" y="1027995"/>
            <a:ext cx="37886" cy="0"/>
          </a:xfrm>
          <a:prstGeom prst="line">
            <a:avLst/>
          </a:prstGeom>
          <a:noFill/>
          <a:ln w="16510">
            <a:solidFill>
              <a:srgbClr val="2C3E5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44123" y="1122710"/>
            <a:ext cx="0" cy="186724"/>
          </a:xfrm>
          <a:prstGeom prst="line">
            <a:avLst/>
          </a:prstGeom>
          <a:noFill/>
          <a:ln w="19050">
            <a:solidFill>
              <a:srgbClr val="2C3E5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4123" y="1309434"/>
            <a:ext cx="0" cy="46004"/>
          </a:xfrm>
          <a:prstGeom prst="line">
            <a:avLst/>
          </a:prstGeom>
          <a:noFill/>
          <a:ln w="19050">
            <a:solidFill>
              <a:srgbClr val="2C3E5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rot="10800000">
            <a:off x="2727887" y="1322965"/>
            <a:ext cx="32474" cy="32474"/>
          </a:xfrm>
          <a:prstGeom prst="triangle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684588" y="1355438"/>
            <a:ext cx="119070" cy="119070"/>
          </a:xfrm>
          <a:prstGeom prst="diamond">
            <a:avLst/>
          </a:prstGeom>
          <a:solidFill>
            <a:srgbClr val="FDFEFE"/>
          </a:solidFill>
          <a:ln w="25400">
            <a:solidFill>
              <a:srgbClr val="C0392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684588" y="1355438"/>
            <a:ext cx="119070" cy="1190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7" b="1" dirty="0">
                <a:solidFill>
                  <a:srgbClr val="922B21"/>
                </a:solidFill>
              </a:rPr>
              <a:t>XOR</a:t>
            </a:r>
            <a:endParaRPr lang="en-US" sz="207" dirty="0"/>
          </a:p>
        </p:txBody>
      </p:sp>
      <p:sp>
        <p:nvSpPr>
          <p:cNvPr id="37" name="Text 35"/>
          <p:cNvSpPr/>
          <p:nvPr/>
        </p:nvSpPr>
        <p:spPr>
          <a:xfrm>
            <a:off x="2819895" y="1371675"/>
            <a:ext cx="270614" cy="54123"/>
          </a:xfrm>
          <a:prstGeom prst="rect">
            <a:avLst/>
          </a:prstGeom>
          <a:noFill/>
          <a:ln/>
        </p:spPr>
        <p:txBody>
          <a:bodyPr wrap="square" lIns="3759" tIns="3759" rIns="3759" bIns="3759" rtlCol="0" anchor="ctr"/>
          <a:lstStyle/>
          <a:p>
            <a:r>
              <a:rPr lang="en-US" sz="222" b="1" dirty="0">
                <a:solidFill>
                  <a:srgbClr val="1A5276"/>
                </a:solidFill>
              </a:rPr>
              <a:t>готова</a:t>
            </a:r>
            <a:endParaRPr lang="en-US" sz="222" dirty="0"/>
          </a:p>
        </p:txBody>
      </p:sp>
      <p:sp>
        <p:nvSpPr>
          <p:cNvPr id="38" name="Text 36"/>
          <p:cNvSpPr/>
          <p:nvPr/>
        </p:nvSpPr>
        <p:spPr>
          <a:xfrm>
            <a:off x="2281373" y="1360850"/>
            <a:ext cx="324737" cy="54123"/>
          </a:xfrm>
          <a:prstGeom prst="rect">
            <a:avLst/>
          </a:prstGeom>
          <a:noFill/>
          <a:ln/>
        </p:spPr>
        <p:txBody>
          <a:bodyPr wrap="square" lIns="3759" tIns="3759" rIns="3759" bIns="3759" rtlCol="0" anchor="ctr"/>
          <a:lstStyle/>
          <a:p>
            <a:r>
              <a:rPr lang="en-US" sz="222" b="1" dirty="0">
                <a:solidFill>
                  <a:srgbClr val="922B21"/>
                </a:solidFill>
              </a:rPr>
              <a:t>не готова</a:t>
            </a:r>
            <a:endParaRPr lang="en-US" sz="222" dirty="0"/>
          </a:p>
        </p:txBody>
      </p:sp>
      <p:sp>
        <p:nvSpPr>
          <p:cNvPr id="39" name="Shape 37"/>
          <p:cNvSpPr/>
          <p:nvPr/>
        </p:nvSpPr>
        <p:spPr>
          <a:xfrm>
            <a:off x="2202895" y="1414973"/>
            <a:ext cx="481693" cy="0"/>
          </a:xfrm>
          <a:prstGeom prst="line">
            <a:avLst/>
          </a:prstGeom>
          <a:noFill/>
          <a:ln w="16510">
            <a:solidFill>
              <a:srgbClr val="2C3E5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891690" y="1355438"/>
            <a:ext cx="311206" cy="154250"/>
          </a:xfrm>
          <a:prstGeom prst="rect">
            <a:avLst/>
          </a:prstGeom>
          <a:noFill/>
          <a:ln/>
        </p:spPr>
        <p:txBody>
          <a:bodyPr wrap="square" lIns="15034" tIns="15034" rIns="15034" bIns="15034" rtlCol="0" anchor="ctr"/>
          <a:lstStyle/>
          <a:p>
            <a:pPr algn="ctr"/>
            <a:endParaRPr lang="en-US" sz="251" dirty="0"/>
          </a:p>
        </p:txBody>
      </p:sp>
      <p:sp>
        <p:nvSpPr>
          <p:cNvPr id="42" name="Shape 40"/>
          <p:cNvSpPr/>
          <p:nvPr/>
        </p:nvSpPr>
        <p:spPr>
          <a:xfrm>
            <a:off x="2202895" y="1014464"/>
            <a:ext cx="0" cy="400509"/>
          </a:xfrm>
          <a:prstGeom prst="line">
            <a:avLst/>
          </a:prstGeom>
          <a:noFill/>
          <a:ln w="16510">
            <a:solidFill>
              <a:srgbClr val="2C3E5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202895" y="1014464"/>
            <a:ext cx="108246" cy="0"/>
          </a:xfrm>
          <a:prstGeom prst="line">
            <a:avLst/>
          </a:prstGeom>
          <a:noFill/>
          <a:ln w="16510">
            <a:solidFill>
              <a:srgbClr val="2C3E5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186659" y="1011759"/>
            <a:ext cx="32474" cy="32474"/>
          </a:xfrm>
          <a:prstGeom prst="triangle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905220" y="965755"/>
            <a:ext cx="297675" cy="67653"/>
          </a:xfrm>
          <a:prstGeom prst="rect">
            <a:avLst/>
          </a:prstGeom>
          <a:noFill/>
          <a:ln/>
        </p:spPr>
        <p:txBody>
          <a:bodyPr wrap="square" lIns="3759" tIns="3759" rIns="3759" bIns="3759" rtlCol="0" anchor="ctr"/>
          <a:lstStyle/>
          <a:p>
            <a:r>
              <a:rPr lang="en-US" sz="222" dirty="0">
                <a:solidFill>
                  <a:srgbClr val="2C3E50"/>
                </a:solidFill>
              </a:rPr>
              <a:t>↑ жарить ещё</a:t>
            </a:r>
            <a:endParaRPr lang="en-US" sz="222" dirty="0"/>
          </a:p>
        </p:txBody>
      </p:sp>
      <p:sp>
        <p:nvSpPr>
          <p:cNvPr id="46" name="Shape 44"/>
          <p:cNvSpPr/>
          <p:nvPr/>
        </p:nvSpPr>
        <p:spPr>
          <a:xfrm>
            <a:off x="2744123" y="1474508"/>
            <a:ext cx="0" cy="46004"/>
          </a:xfrm>
          <a:prstGeom prst="line">
            <a:avLst/>
          </a:prstGeom>
          <a:noFill/>
          <a:ln w="19050">
            <a:solidFill>
              <a:srgbClr val="2C3E5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 rot="10800000">
            <a:off x="2727887" y="1488039"/>
            <a:ext cx="32474" cy="32474"/>
          </a:xfrm>
          <a:prstGeom prst="triangle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311141" y="1520513"/>
            <a:ext cx="865965" cy="140719"/>
          </a:xfrm>
          <a:prstGeom prst="hexagon">
            <a:avLst/>
          </a:prstGeom>
          <a:solidFill>
            <a:srgbClr val="D6EAF8"/>
          </a:solidFill>
          <a:ln w="22860">
            <a:solidFill>
              <a:srgbClr val="1A527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311141" y="1520513"/>
            <a:ext cx="865965" cy="140719"/>
          </a:xfrm>
          <a:prstGeom prst="rect">
            <a:avLst/>
          </a:prstGeom>
          <a:noFill/>
          <a:ln/>
        </p:spPr>
        <p:txBody>
          <a:bodyPr wrap="square" lIns="15034" tIns="15034" rIns="15034" bIns="15034" rtlCol="0" anchor="ctr"/>
          <a:lstStyle/>
          <a:p>
            <a:pPr algn="ctr"/>
            <a:r>
              <a:rPr lang="en-US" sz="251" b="1" dirty="0">
                <a:solidFill>
                  <a:srgbClr val="0D2B4E"/>
                </a:solidFill>
              </a:rPr>
              <a:t>Корочка золотистая,</a:t>
            </a:r>
            <a:endParaRPr lang="en-US" sz="251" dirty="0"/>
          </a:p>
          <a:p>
            <a:pPr algn="ctr"/>
            <a:r>
              <a:rPr lang="en-US" sz="251" b="1" dirty="0">
                <a:solidFill>
                  <a:srgbClr val="0D2B4E"/>
                </a:solidFill>
              </a:rPr>
              <a:t>готово к духовке</a:t>
            </a:r>
            <a:endParaRPr lang="en-US" sz="251" dirty="0"/>
          </a:p>
        </p:txBody>
      </p:sp>
      <p:sp>
        <p:nvSpPr>
          <p:cNvPr id="50" name="Shape 48"/>
          <p:cNvSpPr/>
          <p:nvPr/>
        </p:nvSpPr>
        <p:spPr>
          <a:xfrm>
            <a:off x="2744123" y="1661232"/>
            <a:ext cx="0" cy="46004"/>
          </a:xfrm>
          <a:prstGeom prst="line">
            <a:avLst/>
          </a:prstGeom>
          <a:noFill/>
          <a:ln w="19050">
            <a:solidFill>
              <a:srgbClr val="2C3E5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 rot="10800000">
            <a:off x="2727887" y="1674762"/>
            <a:ext cx="32474" cy="32474"/>
          </a:xfrm>
          <a:prstGeom prst="triangle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311141" y="1707236"/>
            <a:ext cx="865965" cy="189430"/>
          </a:xfrm>
          <a:prstGeom prst="roundRect">
            <a:avLst>
              <a:gd name="adj" fmla="val 11429"/>
            </a:avLst>
          </a:prstGeom>
          <a:solidFill>
            <a:srgbClr val="D5F5E3"/>
          </a:solidFill>
          <a:ln w="22860">
            <a:solidFill>
              <a:srgbClr val="1E8449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311141" y="1707236"/>
            <a:ext cx="865965" cy="189430"/>
          </a:xfrm>
          <a:prstGeom prst="rect">
            <a:avLst/>
          </a:prstGeom>
          <a:noFill/>
          <a:ln/>
        </p:spPr>
        <p:txBody>
          <a:bodyPr wrap="square" lIns="15034" tIns="15034" rIns="15034" bIns="15034" rtlCol="0" anchor="ctr"/>
          <a:lstStyle/>
          <a:p>
            <a:pPr algn="ctr"/>
            <a:r>
              <a:rPr lang="en-US" sz="251" b="1" dirty="0">
                <a:solidFill>
                  <a:srgbClr val="0B3D20"/>
                </a:solidFill>
              </a:rPr>
              <a:t>Б.3 Довести до готовности</a:t>
            </a:r>
            <a:endParaRPr lang="en-US" sz="251" dirty="0"/>
          </a:p>
          <a:p>
            <a:pPr algn="ctr"/>
            <a:r>
              <a:rPr lang="en-US" sz="251" b="1" dirty="0">
                <a:solidFill>
                  <a:srgbClr val="0B3D20"/>
                </a:solidFill>
              </a:rPr>
              <a:t>в духовке (180°C, 15–20 мин)</a:t>
            </a:r>
            <a:endParaRPr lang="en-US" sz="251" dirty="0"/>
          </a:p>
        </p:txBody>
      </p:sp>
      <p:sp>
        <p:nvSpPr>
          <p:cNvPr id="54" name="Shape 52"/>
          <p:cNvSpPr/>
          <p:nvPr/>
        </p:nvSpPr>
        <p:spPr>
          <a:xfrm>
            <a:off x="3214992" y="1720767"/>
            <a:ext cx="405921" cy="124482"/>
          </a:xfrm>
          <a:prstGeom prst="rect">
            <a:avLst/>
          </a:prstGeom>
          <a:solidFill>
            <a:srgbClr val="F9F2FF"/>
          </a:solidFill>
          <a:ln w="15240">
            <a:solidFill>
              <a:srgbClr val="7D3C98"/>
            </a:solidFill>
            <a:prstDash val="sysDash"/>
          </a:ln>
        </p:spPr>
      </p:sp>
      <p:sp>
        <p:nvSpPr>
          <p:cNvPr id="55" name="Text 53"/>
          <p:cNvSpPr/>
          <p:nvPr/>
        </p:nvSpPr>
        <p:spPr>
          <a:xfrm>
            <a:off x="3214992" y="1720767"/>
            <a:ext cx="405921" cy="124482"/>
          </a:xfrm>
          <a:prstGeom prst="rect">
            <a:avLst/>
          </a:prstGeom>
          <a:noFill/>
          <a:ln/>
        </p:spPr>
        <p:txBody>
          <a:bodyPr wrap="square" lIns="11276" tIns="11276" rIns="11276" bIns="11276" rtlCol="0" anchor="ctr"/>
          <a:lstStyle/>
          <a:p>
            <a:pPr algn="ctr"/>
            <a:r>
              <a:rPr lang="en-US" sz="222" dirty="0">
                <a:solidFill>
                  <a:srgbClr val="4A235A"/>
                </a:solidFill>
              </a:rPr>
              <a:t>Духовка,</a:t>
            </a:r>
            <a:endParaRPr lang="en-US" sz="222" dirty="0"/>
          </a:p>
          <a:p>
            <a:pPr algn="ctr"/>
            <a:r>
              <a:rPr lang="en-US" sz="222" dirty="0">
                <a:solidFill>
                  <a:srgbClr val="4A235A"/>
                </a:solidFill>
              </a:rPr>
              <a:t>противень</a:t>
            </a:r>
            <a:endParaRPr lang="en-US" sz="222" dirty="0"/>
          </a:p>
        </p:txBody>
      </p:sp>
      <p:sp>
        <p:nvSpPr>
          <p:cNvPr id="56" name="Shape 54"/>
          <p:cNvSpPr/>
          <p:nvPr/>
        </p:nvSpPr>
        <p:spPr>
          <a:xfrm>
            <a:off x="3177106" y="1801951"/>
            <a:ext cx="37886" cy="0"/>
          </a:xfrm>
          <a:prstGeom prst="line">
            <a:avLst/>
          </a:prstGeom>
          <a:noFill/>
          <a:ln w="16510">
            <a:solidFill>
              <a:srgbClr val="2C3E5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744123" y="1896666"/>
            <a:ext cx="0" cy="200254"/>
          </a:xfrm>
          <a:prstGeom prst="line">
            <a:avLst/>
          </a:prstGeom>
          <a:noFill/>
          <a:ln w="19050">
            <a:solidFill>
              <a:srgbClr val="2C3E5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 flipV="1">
            <a:off x="2311141" y="2083389"/>
            <a:ext cx="865965" cy="13530"/>
          </a:xfrm>
          <a:prstGeom prst="rect">
            <a:avLst/>
          </a:prstGeom>
          <a:noFill/>
          <a:ln/>
        </p:spPr>
        <p:txBody>
          <a:bodyPr wrap="square" lIns="15034" tIns="15034" rIns="15034" bIns="15034" rtlCol="0" anchor="ctr"/>
          <a:lstStyle/>
          <a:p>
            <a:pPr algn="ctr"/>
            <a:endParaRPr lang="en-US" sz="251" dirty="0"/>
          </a:p>
        </p:txBody>
      </p:sp>
      <p:sp>
        <p:nvSpPr>
          <p:cNvPr id="61" name="Shape 59"/>
          <p:cNvSpPr/>
          <p:nvPr/>
        </p:nvSpPr>
        <p:spPr>
          <a:xfrm>
            <a:off x="2744123" y="2083390"/>
            <a:ext cx="0" cy="46004"/>
          </a:xfrm>
          <a:prstGeom prst="line">
            <a:avLst/>
          </a:prstGeom>
          <a:noFill/>
          <a:ln w="19050">
            <a:solidFill>
              <a:srgbClr val="2C3E5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 rot="10800000">
            <a:off x="2727887" y="2096920"/>
            <a:ext cx="32474" cy="32474"/>
          </a:xfrm>
          <a:prstGeom prst="triangle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684588" y="2129394"/>
            <a:ext cx="119070" cy="119070"/>
          </a:xfrm>
          <a:prstGeom prst="diamond">
            <a:avLst/>
          </a:prstGeom>
          <a:solidFill>
            <a:srgbClr val="FDFEFE"/>
          </a:solidFill>
          <a:ln w="25400">
            <a:solidFill>
              <a:srgbClr val="C0392B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684588" y="2129394"/>
            <a:ext cx="119070" cy="1190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7" b="1" dirty="0">
                <a:solidFill>
                  <a:srgbClr val="922B21"/>
                </a:solidFill>
              </a:rPr>
              <a:t>XOR</a:t>
            </a:r>
            <a:endParaRPr lang="en-US" sz="207" dirty="0"/>
          </a:p>
        </p:txBody>
      </p:sp>
      <p:sp>
        <p:nvSpPr>
          <p:cNvPr id="65" name="Text 63"/>
          <p:cNvSpPr/>
          <p:nvPr/>
        </p:nvSpPr>
        <p:spPr>
          <a:xfrm>
            <a:off x="2819895" y="2145631"/>
            <a:ext cx="270614" cy="54123"/>
          </a:xfrm>
          <a:prstGeom prst="rect">
            <a:avLst/>
          </a:prstGeom>
          <a:noFill/>
          <a:ln/>
        </p:spPr>
        <p:txBody>
          <a:bodyPr wrap="square" lIns="3759" tIns="3759" rIns="3759" bIns="3759" rtlCol="0" anchor="ctr"/>
          <a:lstStyle/>
          <a:p>
            <a:r>
              <a:rPr lang="en-US" sz="222" b="1" dirty="0">
                <a:solidFill>
                  <a:srgbClr val="1A5276"/>
                </a:solidFill>
              </a:rPr>
              <a:t>готовы</a:t>
            </a:r>
            <a:endParaRPr lang="en-US" sz="222" dirty="0"/>
          </a:p>
        </p:txBody>
      </p:sp>
      <p:sp>
        <p:nvSpPr>
          <p:cNvPr id="66" name="Text 64"/>
          <p:cNvSpPr/>
          <p:nvPr/>
        </p:nvSpPr>
        <p:spPr>
          <a:xfrm>
            <a:off x="2281373" y="2141571"/>
            <a:ext cx="324737" cy="54123"/>
          </a:xfrm>
          <a:prstGeom prst="rect">
            <a:avLst/>
          </a:prstGeom>
          <a:noFill/>
          <a:ln/>
        </p:spPr>
        <p:txBody>
          <a:bodyPr wrap="square" lIns="3759" tIns="3759" rIns="3759" bIns="3759" rtlCol="0" anchor="ctr"/>
          <a:lstStyle/>
          <a:p>
            <a:r>
              <a:rPr lang="en-US" sz="222" b="1" dirty="0">
                <a:solidFill>
                  <a:srgbClr val="922B21"/>
                </a:solidFill>
              </a:rPr>
              <a:t>не готовы</a:t>
            </a:r>
            <a:endParaRPr lang="en-US" sz="222" dirty="0"/>
          </a:p>
        </p:txBody>
      </p:sp>
      <p:sp>
        <p:nvSpPr>
          <p:cNvPr id="67" name="Shape 65"/>
          <p:cNvSpPr/>
          <p:nvPr/>
        </p:nvSpPr>
        <p:spPr>
          <a:xfrm>
            <a:off x="2202895" y="2188929"/>
            <a:ext cx="481693" cy="0"/>
          </a:xfrm>
          <a:prstGeom prst="line">
            <a:avLst/>
          </a:prstGeom>
          <a:noFill/>
          <a:ln w="16510">
            <a:solidFill>
              <a:srgbClr val="2C3E5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891690" y="2129394"/>
            <a:ext cx="311206" cy="154250"/>
          </a:xfrm>
          <a:prstGeom prst="rect">
            <a:avLst/>
          </a:prstGeom>
          <a:noFill/>
          <a:ln/>
        </p:spPr>
        <p:txBody>
          <a:bodyPr wrap="square" lIns="15034" tIns="15034" rIns="15034" bIns="15034" rtlCol="0" anchor="ctr"/>
          <a:lstStyle/>
          <a:p>
            <a:pPr algn="ctr"/>
            <a:endParaRPr lang="en-US" sz="251" dirty="0"/>
          </a:p>
        </p:txBody>
      </p:sp>
      <p:sp>
        <p:nvSpPr>
          <p:cNvPr id="70" name="Shape 68"/>
          <p:cNvSpPr/>
          <p:nvPr/>
        </p:nvSpPr>
        <p:spPr>
          <a:xfrm>
            <a:off x="2202895" y="1788421"/>
            <a:ext cx="0" cy="407274"/>
          </a:xfrm>
          <a:prstGeom prst="line">
            <a:avLst/>
          </a:prstGeom>
          <a:noFill/>
          <a:ln w="16510">
            <a:solidFill>
              <a:srgbClr val="2C3E5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202895" y="1788420"/>
            <a:ext cx="108246" cy="0"/>
          </a:xfrm>
          <a:prstGeom prst="line">
            <a:avLst/>
          </a:prstGeom>
          <a:noFill/>
          <a:ln w="16510">
            <a:solidFill>
              <a:srgbClr val="2C3E5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186659" y="1785714"/>
            <a:ext cx="32474" cy="32474"/>
          </a:xfrm>
          <a:prstGeom prst="triangle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1891690" y="1739710"/>
            <a:ext cx="311206" cy="67653"/>
          </a:xfrm>
          <a:prstGeom prst="rect">
            <a:avLst/>
          </a:prstGeom>
          <a:noFill/>
          <a:ln/>
        </p:spPr>
        <p:txBody>
          <a:bodyPr wrap="square" lIns="3759" tIns="3759" rIns="3759" bIns="3759" rtlCol="0" anchor="ctr"/>
          <a:lstStyle/>
          <a:p>
            <a:r>
              <a:rPr lang="en-US" sz="222" dirty="0">
                <a:solidFill>
                  <a:srgbClr val="2C3E50"/>
                </a:solidFill>
              </a:rPr>
              <a:t>↑ ещё в духовку</a:t>
            </a:r>
            <a:endParaRPr lang="en-US" sz="222" dirty="0"/>
          </a:p>
        </p:txBody>
      </p:sp>
      <p:sp>
        <p:nvSpPr>
          <p:cNvPr id="74" name="Shape 72"/>
          <p:cNvSpPr/>
          <p:nvPr/>
        </p:nvSpPr>
        <p:spPr>
          <a:xfrm>
            <a:off x="2744123" y="2248464"/>
            <a:ext cx="0" cy="46004"/>
          </a:xfrm>
          <a:prstGeom prst="line">
            <a:avLst/>
          </a:prstGeom>
          <a:noFill/>
          <a:ln w="19050">
            <a:solidFill>
              <a:srgbClr val="2C3E5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 rot="10800000">
            <a:off x="2727887" y="2261995"/>
            <a:ext cx="32474" cy="32474"/>
          </a:xfrm>
          <a:prstGeom prst="triangle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311141" y="2294469"/>
            <a:ext cx="865965" cy="140719"/>
          </a:xfrm>
          <a:prstGeom prst="hexagon">
            <a:avLst/>
          </a:prstGeom>
          <a:solidFill>
            <a:srgbClr val="D6EAF8"/>
          </a:solidFill>
          <a:ln w="22860">
            <a:solidFill>
              <a:srgbClr val="1A5276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2311141" y="2294469"/>
            <a:ext cx="865965" cy="140719"/>
          </a:xfrm>
          <a:prstGeom prst="rect">
            <a:avLst/>
          </a:prstGeom>
          <a:noFill/>
          <a:ln/>
        </p:spPr>
        <p:txBody>
          <a:bodyPr wrap="square" lIns="15034" tIns="15034" rIns="15034" bIns="15034" rtlCol="0" anchor="ctr"/>
          <a:lstStyle/>
          <a:p>
            <a:pPr algn="ctr"/>
            <a:r>
              <a:rPr lang="en-US" sz="251" b="1" dirty="0">
                <a:solidFill>
                  <a:srgbClr val="0D2B4E"/>
                </a:solidFill>
              </a:rPr>
              <a:t>Котлеты готовы,</a:t>
            </a:r>
            <a:endParaRPr lang="en-US" sz="251" dirty="0"/>
          </a:p>
          <a:p>
            <a:pPr algn="ctr"/>
            <a:r>
              <a:rPr lang="en-US" sz="251" b="1" dirty="0">
                <a:solidFill>
                  <a:srgbClr val="0D2B4E"/>
                </a:solidFill>
              </a:rPr>
              <a:t>золотистая корочка</a:t>
            </a:r>
            <a:endParaRPr lang="en-US" sz="251" dirty="0"/>
          </a:p>
        </p:txBody>
      </p:sp>
      <p:sp>
        <p:nvSpPr>
          <p:cNvPr id="78" name="Shape 76"/>
          <p:cNvSpPr/>
          <p:nvPr/>
        </p:nvSpPr>
        <p:spPr>
          <a:xfrm>
            <a:off x="3177106" y="2364828"/>
            <a:ext cx="175899" cy="0"/>
          </a:xfrm>
          <a:prstGeom prst="line">
            <a:avLst/>
          </a:prstGeom>
          <a:noFill/>
          <a:ln w="16510">
            <a:solidFill>
              <a:srgbClr val="CA6F1E"/>
            </a:solidFill>
            <a:prstDash val="dash"/>
          </a:ln>
        </p:spPr>
      </p:sp>
      <p:sp>
        <p:nvSpPr>
          <p:cNvPr id="79" name="Text 77"/>
          <p:cNvSpPr/>
          <p:nvPr/>
        </p:nvSpPr>
        <p:spPr>
          <a:xfrm>
            <a:off x="3198755" y="2305293"/>
            <a:ext cx="351798" cy="59535"/>
          </a:xfrm>
          <a:prstGeom prst="rect">
            <a:avLst/>
          </a:prstGeom>
          <a:noFill/>
          <a:ln/>
        </p:spPr>
        <p:txBody>
          <a:bodyPr wrap="square" lIns="3759" tIns="3759" rIns="3759" bIns="3759" rtlCol="0" anchor="ctr"/>
          <a:lstStyle/>
          <a:p>
            <a:r>
              <a:rPr lang="en-US" sz="222" i="1" dirty="0">
                <a:solidFill>
                  <a:srgbClr val="CA6F1E"/>
                </a:solidFill>
              </a:rPr>
              <a:t>↑ к слайду 2</a:t>
            </a:r>
            <a:endParaRPr lang="en-US" sz="222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E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49C336-F4D2-921E-5E3D-4874526272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395508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Тема Office 2013–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47</TotalTime>
  <Words>397</Words>
  <Application>Microsoft Macintosh PowerPoint</Application>
  <PresentationFormat>Произвольный</PresentationFormat>
  <Paragraphs>135</Paragraphs>
  <Slides>4</Slides>
  <Notes>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Тема Office 2013–2022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марк шарапов</cp:lastModifiedBy>
  <cp:revision>3</cp:revision>
  <dcterms:created xsi:type="dcterms:W3CDTF">2026-03-22T21:41:40Z</dcterms:created>
  <dcterms:modified xsi:type="dcterms:W3CDTF">2026-03-23T21:28:18Z</dcterms:modified>
</cp:coreProperties>
</file>